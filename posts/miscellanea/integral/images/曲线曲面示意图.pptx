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wdp" ContentType="image/vnd.ms-photo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7" r:id="rId2"/>
    <p:sldId id="259" r:id="rId3"/>
    <p:sldId id="256" r:id="rId4"/>
    <p:sldId id="258" r:id="rId5"/>
    <p:sldId id="260" r:id="rId6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 userDrawn="1">
          <p15:clr>
            <a:srgbClr val="A4A3A4"/>
          </p15:clr>
        </p15:guide>
        <p15:guide id="2" pos="3792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4995" autoAdjust="0"/>
    <p:restoredTop sz="94660"/>
  </p:normalViewPr>
  <p:slideViewPr>
    <p:cSldViewPr snapToGrid="0" showGuides="1">
      <p:cViewPr varScale="1">
        <p:scale>
          <a:sx n="100" d="100"/>
          <a:sy n="100" d="100"/>
        </p:scale>
        <p:origin x="533" y="71"/>
      </p:cViewPr>
      <p:guideLst>
        <p:guide orient="horz" pos="2160"/>
        <p:guide pos="3792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viewProps" Target="viewProps.xml"/><Relationship Id="rId3" Type="http://schemas.openxmlformats.org/officeDocument/2006/relationships/slide" Target="slides/slide2.xml"/><Relationship Id="rId7" Type="http://schemas.openxmlformats.org/officeDocument/2006/relationships/presProps" Target="pres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5" Type="http://schemas.openxmlformats.org/officeDocument/2006/relationships/slide" Target="slides/slide4.xml"/><Relationship Id="rId10" Type="http://schemas.openxmlformats.org/officeDocument/2006/relationships/tableStyles" Target="tableStyles.xml"/><Relationship Id="rId4" Type="http://schemas.openxmlformats.org/officeDocument/2006/relationships/slide" Target="slides/slide3.xml"/><Relationship Id="rId9" Type="http://schemas.openxmlformats.org/officeDocument/2006/relationships/theme" Target="theme/theme1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EE57B1F-F486-49AA-89DC-E142EC804D4F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5CD7B05C-2F89-4919-8746-605587B2A316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C7143104-E656-413D-AA70-04DE2509CC7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C37950C-02E3-41A3-9DC3-63E190C3A828}" type="datetimeFigureOut">
              <a:rPr lang="en-US" smtClean="0"/>
              <a:t>5/24/2025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96CB464B-9012-4787-BE02-EC6E9F8C6B7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DDBF74C9-B983-42C7-B486-3CC3CA85231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2112382-B817-40F0-9783-E63FE1172CC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68224679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8422A39-A233-46B1-B988-9626336F49C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E6AF60E-BD3C-41ED-A9B1-2720A53AC5D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21F6CD7C-2584-43CA-9877-B8F3F9764C0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C37950C-02E3-41A3-9DC3-63E190C3A828}" type="datetimeFigureOut">
              <a:rPr lang="en-US" smtClean="0"/>
              <a:t>5/24/2025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70BFB33-1A8F-451B-BE53-136CEB1A017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B28A205C-ED95-4B35-95CE-CC25EB69719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2112382-B817-40F0-9783-E63FE1172CC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42591777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54065AD-992D-4B37-B176-CB54955CFDE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9C49B205-EBC9-45BB-94C7-DD4047AD5116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9B12B57E-E3D7-4A6B-B5EC-619D88EF58C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C37950C-02E3-41A3-9DC3-63E190C3A828}" type="datetimeFigureOut">
              <a:rPr lang="en-US" smtClean="0"/>
              <a:t>5/24/2025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9A218BC5-56AF-4F5A-BC3E-3A444DAB64A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33A1405-294E-4407-A29F-508632FC17B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2112382-B817-40F0-9783-E63FE1172CC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01615001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260AB5C-BB10-45C5-865B-769775D716B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A4F2931-E741-4E2E-B3DD-2FD809713BC8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B45783CB-E4FA-40B4-8D70-ECF140B372DC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40066AC8-448E-4387-A7DB-5C607E6E47B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C37950C-02E3-41A3-9DC3-63E190C3A828}" type="datetimeFigureOut">
              <a:rPr lang="en-US" smtClean="0"/>
              <a:t>5/24/2025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00E39EB7-CAD7-45EE-80B8-1B53299A7D4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7AAA947F-BC65-43D0-B0E5-A9181E001F4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2112382-B817-40F0-9783-E63FE1172CC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88611066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978B6B5-AC6A-4CE1-850A-017C6BEC807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D51B56B9-57A5-427E-9277-F7C420C0ED23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D9290FF7-E52F-4755-8718-449185CBF091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26CC180C-82B7-4899-BA72-C95548F8C1C6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C627A239-1C04-4F17-958C-978C5A31DBCD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9CE60265-4EC1-45F7-98B2-2D0610F0892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C37950C-02E3-41A3-9DC3-63E190C3A828}" type="datetimeFigureOut">
              <a:rPr lang="en-US" smtClean="0"/>
              <a:t>5/24/2025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C765944F-8EFF-4FA7-9762-2B6D1331428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0B0A0F31-EC86-4E19-AE70-F82C6C83683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2112382-B817-40F0-9783-E63FE1172CC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78819514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6F0F884-43FF-4127-90C3-FFE8EB98245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8D0B3E96-2B6E-4B78-A236-9B649EF073A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C37950C-02E3-41A3-9DC3-63E190C3A828}" type="datetimeFigureOut">
              <a:rPr lang="en-US" smtClean="0"/>
              <a:t>5/24/2025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35C3797F-2F6D-4B3B-9568-3688B5AD27E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B189CC9B-CD5D-49C5-8C18-CCDC59A631B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2112382-B817-40F0-9783-E63FE1172CC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12088615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42BF7BDD-F438-480F-A9F6-5D3A9122EF8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C37950C-02E3-41A3-9DC3-63E190C3A828}" type="datetimeFigureOut">
              <a:rPr lang="en-US" smtClean="0"/>
              <a:t>5/24/2025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41DDCAF3-7742-4FCB-90FB-0E4997E8E7D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1F3E818B-9515-4A5D-A002-EE1DB2DBC17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2112382-B817-40F0-9783-E63FE1172CC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97194299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E974C5B-2238-44D3-9AE5-B66388447F9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BDD786D-8C26-499D-843A-03950AED921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BF5FF13B-6252-4664-B908-ECBF785F6BF5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7004ABC7-58F3-4298-8140-7ED113796C6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C37950C-02E3-41A3-9DC3-63E190C3A828}" type="datetimeFigureOut">
              <a:rPr lang="en-US" smtClean="0"/>
              <a:t>5/24/2025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8CD34993-6548-4687-9DD7-B1DD7CF7B41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5BD0EF67-16C9-4557-B9CF-A546235D4DF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2112382-B817-40F0-9783-E63FE1172CC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02408792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2FDD791-4E3B-44CF-AC5D-970E8F9CD84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AD8CDCC7-4C9C-4A29-95DC-01A4F83FAC24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086C3E56-10FA-4851-AEB4-8F8F232F3C54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85E17527-40B7-47B1-9BFF-D78181ABCD5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C37950C-02E3-41A3-9DC3-63E190C3A828}" type="datetimeFigureOut">
              <a:rPr lang="en-US" smtClean="0"/>
              <a:t>5/24/2025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8A843DE3-40B2-4264-AFBD-64C61DE1A83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22AF29EE-7254-4697-97AD-7CA97F59FCB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2112382-B817-40F0-9783-E63FE1172CC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70224923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6A96ED0-619C-4795-964B-64CCD5436EC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6C2F7666-01DA-40E0-B3BB-F091B161CEAD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BFB9F347-8315-4CEF-B5AA-873FE4F0483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C37950C-02E3-41A3-9DC3-63E190C3A828}" type="datetimeFigureOut">
              <a:rPr lang="en-US" smtClean="0"/>
              <a:t>5/24/2025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2BA8925C-FAFE-4842-A350-5A865C66893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5ECC484A-DC08-46A8-B0D3-53A3B8E86E0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2112382-B817-40F0-9783-E63FE1172CC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6475787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8A896A21-24E9-4691-8068-4318E84399EF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B9626748-A1A3-4B32-B8B3-FCA8A74221D4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31A9077-FC6C-4449-AE75-FF6D5E78CB6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C37950C-02E3-41A3-9DC3-63E190C3A828}" type="datetimeFigureOut">
              <a:rPr lang="en-US" smtClean="0"/>
              <a:t>5/24/2025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83525B36-5F33-4E39-A0E2-DCE744A3DE5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599729D-7604-4A00-A3A8-AE61BEA1719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2112382-B817-40F0-9783-E63FE1172CC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70046727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DE7BC432-2DBF-403B-B389-AB35E60C156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7D19D58B-1FD0-486F-BF5F-864999FB0DF3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996DFE52-38E7-44E7-B311-0A9F38790A26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FC37950C-02E3-41A3-9DC3-63E190C3A828}" type="datetimeFigureOut">
              <a:rPr lang="en-US" smtClean="0"/>
              <a:t>5/24/2025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46F35E60-1D8E-4E05-A42B-8290C5F0E385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0AB7A8D-39B1-46AF-8F58-5541C40E601F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D2112382-B817-40F0-9783-E63FE1172CC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3469800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8" Type="http://schemas.openxmlformats.org/officeDocument/2006/relationships/image" Target="../media/image7.png"/><Relationship Id="rId13" Type="http://schemas.openxmlformats.org/officeDocument/2006/relationships/image" Target="../media/image12.png"/><Relationship Id="rId3" Type="http://schemas.openxmlformats.org/officeDocument/2006/relationships/image" Target="../media/image2.png"/><Relationship Id="rId7" Type="http://schemas.openxmlformats.org/officeDocument/2006/relationships/image" Target="../media/image6.png"/><Relationship Id="rId12" Type="http://schemas.openxmlformats.org/officeDocument/2006/relationships/image" Target="../media/image11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.png"/><Relationship Id="rId11" Type="http://schemas.openxmlformats.org/officeDocument/2006/relationships/image" Target="../media/image10.png"/><Relationship Id="rId5" Type="http://schemas.openxmlformats.org/officeDocument/2006/relationships/image" Target="../media/image4.png"/><Relationship Id="rId10" Type="http://schemas.openxmlformats.org/officeDocument/2006/relationships/image" Target="../media/image9.png"/><Relationship Id="rId4" Type="http://schemas.openxmlformats.org/officeDocument/2006/relationships/image" Target="../media/image3.png"/><Relationship Id="rId9" Type="http://schemas.openxmlformats.org/officeDocument/2006/relationships/image" Target="../media/image8.png"/></Relationships>
</file>

<file path=ppt/slides/_rels/slide2.xml.rels><?xml version="1.0" encoding="UTF-8" standalone="yes"?>
<Relationships xmlns="http://schemas.openxmlformats.org/package/2006/relationships"><Relationship Id="rId8" Type="http://schemas.openxmlformats.org/officeDocument/2006/relationships/image" Target="../media/image19.png"/><Relationship Id="rId13" Type="http://schemas.openxmlformats.org/officeDocument/2006/relationships/image" Target="../media/image24.png"/><Relationship Id="rId3" Type="http://schemas.openxmlformats.org/officeDocument/2006/relationships/image" Target="../media/image14.png"/><Relationship Id="rId7" Type="http://schemas.openxmlformats.org/officeDocument/2006/relationships/image" Target="../media/image18.png"/><Relationship Id="rId12" Type="http://schemas.openxmlformats.org/officeDocument/2006/relationships/image" Target="../media/image23.png"/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17.png"/><Relationship Id="rId11" Type="http://schemas.openxmlformats.org/officeDocument/2006/relationships/image" Target="../media/image22.png"/><Relationship Id="rId5" Type="http://schemas.openxmlformats.org/officeDocument/2006/relationships/image" Target="../media/image16.png"/><Relationship Id="rId10" Type="http://schemas.openxmlformats.org/officeDocument/2006/relationships/image" Target="../media/image21.png"/><Relationship Id="rId4" Type="http://schemas.openxmlformats.org/officeDocument/2006/relationships/image" Target="../media/image15.png"/><Relationship Id="rId9" Type="http://schemas.openxmlformats.org/officeDocument/2006/relationships/image" Target="../media/image20.png"/></Relationships>
</file>

<file path=ppt/slides/_rels/slide3.xml.rels><?xml version="1.0" encoding="UTF-8" standalone="yes"?>
<Relationships xmlns="http://schemas.openxmlformats.org/package/2006/relationships"><Relationship Id="rId8" Type="http://schemas.openxmlformats.org/officeDocument/2006/relationships/image" Target="../media/image7.png"/><Relationship Id="rId13" Type="http://schemas.openxmlformats.org/officeDocument/2006/relationships/image" Target="../media/image12.png"/><Relationship Id="rId3" Type="http://schemas.openxmlformats.org/officeDocument/2006/relationships/image" Target="../media/image2.png"/><Relationship Id="rId7" Type="http://schemas.openxmlformats.org/officeDocument/2006/relationships/image" Target="../media/image6.png"/><Relationship Id="rId12" Type="http://schemas.openxmlformats.org/officeDocument/2006/relationships/image" Target="../media/image130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.png"/><Relationship Id="rId11" Type="http://schemas.openxmlformats.org/officeDocument/2006/relationships/image" Target="../media/image10.png"/><Relationship Id="rId5" Type="http://schemas.openxmlformats.org/officeDocument/2006/relationships/image" Target="../media/image4.png"/><Relationship Id="rId10" Type="http://schemas.openxmlformats.org/officeDocument/2006/relationships/image" Target="../media/image9.png"/><Relationship Id="rId4" Type="http://schemas.openxmlformats.org/officeDocument/2006/relationships/image" Target="../media/image3.png"/><Relationship Id="rId9" Type="http://schemas.openxmlformats.org/officeDocument/2006/relationships/image" Target="../media/image8.png"/><Relationship Id="rId14" Type="http://schemas.openxmlformats.org/officeDocument/2006/relationships/image" Target="../media/image140.png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0.png"/><Relationship Id="rId2" Type="http://schemas.openxmlformats.org/officeDocument/2006/relationships/image" Target="../media/image25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70.png"/></Relationships>
</file>

<file path=ppt/slides/_rels/slide5.xml.rels><?xml version="1.0" encoding="UTF-8" standalone="yes"?>
<Relationships xmlns="http://schemas.openxmlformats.org/package/2006/relationships"><Relationship Id="rId8" Type="http://schemas.openxmlformats.org/officeDocument/2006/relationships/image" Target="../media/image31.png"/><Relationship Id="rId3" Type="http://schemas.microsoft.com/office/2007/relationships/hdphoto" Target="../media/hdphoto1.wdp"/><Relationship Id="rId7" Type="http://schemas.openxmlformats.org/officeDocument/2006/relationships/image" Target="../media/image30.png"/><Relationship Id="rId2" Type="http://schemas.openxmlformats.org/officeDocument/2006/relationships/image" Target="../media/image26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29.png"/><Relationship Id="rId5" Type="http://schemas.openxmlformats.org/officeDocument/2006/relationships/image" Target="../media/image28.png"/><Relationship Id="rId10" Type="http://schemas.openxmlformats.org/officeDocument/2006/relationships/image" Target="../media/image33.png"/><Relationship Id="rId4" Type="http://schemas.openxmlformats.org/officeDocument/2006/relationships/image" Target="../media/image27.png"/><Relationship Id="rId9" Type="http://schemas.openxmlformats.org/officeDocument/2006/relationships/image" Target="../media/image32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5" name="Straight Arrow Connector 4">
            <a:extLst>
              <a:ext uri="{FF2B5EF4-FFF2-40B4-BE49-F238E27FC236}">
                <a16:creationId xmlns:a16="http://schemas.microsoft.com/office/drawing/2014/main" id="{ED306833-0DE3-43A2-8E6D-4DD57DF8B6C4}"/>
              </a:ext>
            </a:extLst>
          </p:cNvPr>
          <p:cNvCxnSpPr>
            <a:cxnSpLocks/>
          </p:cNvCxnSpPr>
          <p:nvPr/>
        </p:nvCxnSpPr>
        <p:spPr>
          <a:xfrm>
            <a:off x="1475117" y="2424023"/>
            <a:ext cx="2191109" cy="0"/>
          </a:xfrm>
          <a:prstGeom prst="straightConnector1">
            <a:avLst/>
          </a:prstGeom>
          <a:ln w="12700"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8" name="Straight Connector 7">
            <a:extLst>
              <a:ext uri="{FF2B5EF4-FFF2-40B4-BE49-F238E27FC236}">
                <a16:creationId xmlns:a16="http://schemas.microsoft.com/office/drawing/2014/main" id="{DC325EF6-7873-4663-AB04-B7A25BCF817E}"/>
              </a:ext>
            </a:extLst>
          </p:cNvPr>
          <p:cNvCxnSpPr>
            <a:cxnSpLocks/>
          </p:cNvCxnSpPr>
          <p:nvPr/>
        </p:nvCxnSpPr>
        <p:spPr>
          <a:xfrm>
            <a:off x="1871932" y="2355011"/>
            <a:ext cx="0" cy="60386"/>
          </a:xfrm>
          <a:prstGeom prst="line">
            <a:avLst/>
          </a:prstGeom>
          <a:ln w="1270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4" name="Straight Connector 13">
            <a:extLst>
              <a:ext uri="{FF2B5EF4-FFF2-40B4-BE49-F238E27FC236}">
                <a16:creationId xmlns:a16="http://schemas.microsoft.com/office/drawing/2014/main" id="{031BA9B3-F886-4792-857F-91594C97D0B4}"/>
              </a:ext>
            </a:extLst>
          </p:cNvPr>
          <p:cNvCxnSpPr>
            <a:cxnSpLocks/>
          </p:cNvCxnSpPr>
          <p:nvPr/>
        </p:nvCxnSpPr>
        <p:spPr>
          <a:xfrm>
            <a:off x="3286705" y="2329132"/>
            <a:ext cx="0" cy="86264"/>
          </a:xfrm>
          <a:prstGeom prst="line">
            <a:avLst/>
          </a:prstGeom>
          <a:ln w="1270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18" name="TextBox 17">
                <a:extLst>
                  <a:ext uri="{FF2B5EF4-FFF2-40B4-BE49-F238E27FC236}">
                    <a16:creationId xmlns:a16="http://schemas.microsoft.com/office/drawing/2014/main" id="{C525E05E-8B2E-4CBD-80B7-7DF54D2D72FC}"/>
                  </a:ext>
                </a:extLst>
              </p:cNvPr>
              <p:cNvSpPr txBox="1"/>
              <p:nvPr/>
            </p:nvSpPr>
            <p:spPr>
              <a:xfrm>
                <a:off x="1713139" y="2385204"/>
                <a:ext cx="317586" cy="276999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120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𝛼</m:t>
                      </m:r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18" name="TextBox 17">
                <a:extLst>
                  <a:ext uri="{FF2B5EF4-FFF2-40B4-BE49-F238E27FC236}">
                    <a16:creationId xmlns:a16="http://schemas.microsoft.com/office/drawing/2014/main" id="{C525E05E-8B2E-4CBD-80B7-7DF54D2D72F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713139" y="2385204"/>
                <a:ext cx="317586" cy="276999"/>
              </a:xfrm>
              <a:prstGeom prst="rect">
                <a:avLst/>
              </a:prstGeom>
              <a:blipFill>
                <a:blip r:embed="rId2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9" name="TextBox 18">
                <a:extLst>
                  <a:ext uri="{FF2B5EF4-FFF2-40B4-BE49-F238E27FC236}">
                    <a16:creationId xmlns:a16="http://schemas.microsoft.com/office/drawing/2014/main" id="{24BFBB3E-4059-42E6-B3F5-067C4C3B4113}"/>
                  </a:ext>
                </a:extLst>
              </p:cNvPr>
              <p:cNvSpPr txBox="1"/>
              <p:nvPr/>
            </p:nvSpPr>
            <p:spPr>
              <a:xfrm>
                <a:off x="3107763" y="2397839"/>
                <a:ext cx="317586" cy="276999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120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𝛽</m:t>
                      </m:r>
                    </m:oMath>
                  </m:oMathPara>
                </a14:m>
                <a:endParaRPr lang="en-US" sz="1200" dirty="0"/>
              </a:p>
            </p:txBody>
          </p:sp>
        </mc:Choice>
        <mc:Fallback xmlns="">
          <p:sp>
            <p:nvSpPr>
              <p:cNvPr id="19" name="TextBox 18">
                <a:extLst>
                  <a:ext uri="{FF2B5EF4-FFF2-40B4-BE49-F238E27FC236}">
                    <a16:creationId xmlns:a16="http://schemas.microsoft.com/office/drawing/2014/main" id="{24BFBB3E-4059-42E6-B3F5-067C4C3B4113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107763" y="2397839"/>
                <a:ext cx="317586" cy="276999"/>
              </a:xfrm>
              <a:prstGeom prst="rect">
                <a:avLst/>
              </a:prstGeom>
              <a:blipFill>
                <a:blip r:embed="rId3"/>
                <a:stretch>
                  <a:fillRect b="-4348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0" name="TextBox 19">
                <a:extLst>
                  <a:ext uri="{FF2B5EF4-FFF2-40B4-BE49-F238E27FC236}">
                    <a16:creationId xmlns:a16="http://schemas.microsoft.com/office/drawing/2014/main" id="{63339690-FE0F-4310-B6F1-C9443E99543A}"/>
                  </a:ext>
                </a:extLst>
              </p:cNvPr>
              <p:cNvSpPr txBox="1"/>
              <p:nvPr/>
            </p:nvSpPr>
            <p:spPr>
              <a:xfrm>
                <a:off x="3497913" y="2411388"/>
                <a:ext cx="284629" cy="276999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12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𝑡</m:t>
                      </m:r>
                    </m:oMath>
                  </m:oMathPara>
                </a14:m>
                <a:endParaRPr lang="en-US" sz="1200" dirty="0"/>
              </a:p>
            </p:txBody>
          </p:sp>
        </mc:Choice>
        <mc:Fallback xmlns="">
          <p:sp>
            <p:nvSpPr>
              <p:cNvPr id="20" name="TextBox 19">
                <a:extLst>
                  <a:ext uri="{FF2B5EF4-FFF2-40B4-BE49-F238E27FC236}">
                    <a16:creationId xmlns:a16="http://schemas.microsoft.com/office/drawing/2014/main" id="{63339690-FE0F-4310-B6F1-C9443E99543A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497913" y="2411388"/>
                <a:ext cx="284629" cy="276999"/>
              </a:xfrm>
              <a:prstGeom prst="rect">
                <a:avLst/>
              </a:prstGeom>
              <a:blipFill>
                <a:blip r:embed="rId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22" name="Straight Arrow Connector 21">
            <a:extLst>
              <a:ext uri="{FF2B5EF4-FFF2-40B4-BE49-F238E27FC236}">
                <a16:creationId xmlns:a16="http://schemas.microsoft.com/office/drawing/2014/main" id="{3CB38A04-3809-4E87-AFC0-F8EE22B5BB94}"/>
              </a:ext>
            </a:extLst>
          </p:cNvPr>
          <p:cNvCxnSpPr/>
          <p:nvPr/>
        </p:nvCxnSpPr>
        <p:spPr>
          <a:xfrm>
            <a:off x="5607170" y="2553896"/>
            <a:ext cx="1673524" cy="0"/>
          </a:xfrm>
          <a:prstGeom prst="straightConnector1">
            <a:avLst/>
          </a:prstGeom>
          <a:ln w="12700"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3" name="Straight Arrow Connector 22">
            <a:extLst>
              <a:ext uri="{FF2B5EF4-FFF2-40B4-BE49-F238E27FC236}">
                <a16:creationId xmlns:a16="http://schemas.microsoft.com/office/drawing/2014/main" id="{88938710-8E86-41C2-AE98-8CE569591AF9}"/>
              </a:ext>
            </a:extLst>
          </p:cNvPr>
          <p:cNvCxnSpPr>
            <a:cxnSpLocks/>
          </p:cNvCxnSpPr>
          <p:nvPr/>
        </p:nvCxnSpPr>
        <p:spPr>
          <a:xfrm flipV="1">
            <a:off x="5607170" y="974785"/>
            <a:ext cx="0" cy="1579112"/>
          </a:xfrm>
          <a:prstGeom prst="straightConnector1">
            <a:avLst/>
          </a:prstGeom>
          <a:ln w="12700"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7" name="Straight Arrow Connector 26">
            <a:extLst>
              <a:ext uri="{FF2B5EF4-FFF2-40B4-BE49-F238E27FC236}">
                <a16:creationId xmlns:a16="http://schemas.microsoft.com/office/drawing/2014/main" id="{BC08FEE1-656F-4A3D-8B0C-5145BF313F92}"/>
              </a:ext>
            </a:extLst>
          </p:cNvPr>
          <p:cNvCxnSpPr>
            <a:cxnSpLocks/>
          </p:cNvCxnSpPr>
          <p:nvPr/>
        </p:nvCxnSpPr>
        <p:spPr>
          <a:xfrm flipH="1">
            <a:off x="4799162" y="2553420"/>
            <a:ext cx="808008" cy="1069064"/>
          </a:xfrm>
          <a:prstGeom prst="straightConnector1">
            <a:avLst/>
          </a:prstGeom>
          <a:ln w="12700"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9" name="Straight Arrow Connector 28">
            <a:extLst>
              <a:ext uri="{FF2B5EF4-FFF2-40B4-BE49-F238E27FC236}">
                <a16:creationId xmlns:a16="http://schemas.microsoft.com/office/drawing/2014/main" id="{CEB61469-5E4A-4E92-BAD2-F2098E864899}"/>
              </a:ext>
            </a:extLst>
          </p:cNvPr>
          <p:cNvCxnSpPr/>
          <p:nvPr/>
        </p:nvCxnSpPr>
        <p:spPr>
          <a:xfrm>
            <a:off x="5607170" y="2554373"/>
            <a:ext cx="1673524" cy="0"/>
          </a:xfrm>
          <a:prstGeom prst="straightConnector1">
            <a:avLst/>
          </a:prstGeom>
          <a:ln w="12700"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35" name="TextBox 34">
                <a:extLst>
                  <a:ext uri="{FF2B5EF4-FFF2-40B4-BE49-F238E27FC236}">
                    <a16:creationId xmlns:a16="http://schemas.microsoft.com/office/drawing/2014/main" id="{A52FC8A2-521C-4CB7-AEF1-4C1D50578CF2}"/>
                  </a:ext>
                </a:extLst>
              </p:cNvPr>
              <p:cNvSpPr txBox="1"/>
              <p:nvPr/>
            </p:nvSpPr>
            <p:spPr>
              <a:xfrm>
                <a:off x="4799161" y="3513702"/>
                <a:ext cx="306366" cy="276999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12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𝑥</m:t>
                      </m:r>
                    </m:oMath>
                  </m:oMathPara>
                </a14:m>
                <a:endParaRPr lang="en-US" sz="1200" dirty="0"/>
              </a:p>
            </p:txBody>
          </p:sp>
        </mc:Choice>
        <mc:Fallback xmlns="">
          <p:sp>
            <p:nvSpPr>
              <p:cNvPr id="35" name="TextBox 34">
                <a:extLst>
                  <a:ext uri="{FF2B5EF4-FFF2-40B4-BE49-F238E27FC236}">
                    <a16:creationId xmlns:a16="http://schemas.microsoft.com/office/drawing/2014/main" id="{A52FC8A2-521C-4CB7-AEF1-4C1D50578CF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799161" y="3513702"/>
                <a:ext cx="306366" cy="276999"/>
              </a:xfrm>
              <a:prstGeom prst="rect">
                <a:avLst/>
              </a:prstGeom>
              <a:blipFill>
                <a:blip r:embed="rId5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36" name="TextBox 35">
                <a:extLst>
                  <a:ext uri="{FF2B5EF4-FFF2-40B4-BE49-F238E27FC236}">
                    <a16:creationId xmlns:a16="http://schemas.microsoft.com/office/drawing/2014/main" id="{4D6D8DA7-3A1A-495D-B010-B7F83F854DBD}"/>
                  </a:ext>
                </a:extLst>
              </p:cNvPr>
              <p:cNvSpPr txBox="1"/>
              <p:nvPr/>
            </p:nvSpPr>
            <p:spPr>
              <a:xfrm>
                <a:off x="1309499" y="2436659"/>
                <a:ext cx="327910" cy="276999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1200" b="0" i="1" smtClean="0">
                          <a:latin typeface="Cambria Math" panose="02040503050406030204" pitchFamily="18" charset="0"/>
                        </a:rPr>
                        <m:t>𝑂</m:t>
                      </m:r>
                    </m:oMath>
                  </m:oMathPara>
                </a14:m>
                <a:endParaRPr lang="en-US" sz="1200" dirty="0"/>
              </a:p>
            </p:txBody>
          </p:sp>
        </mc:Choice>
        <mc:Fallback xmlns="">
          <p:sp>
            <p:nvSpPr>
              <p:cNvPr id="36" name="TextBox 35">
                <a:extLst>
                  <a:ext uri="{FF2B5EF4-FFF2-40B4-BE49-F238E27FC236}">
                    <a16:creationId xmlns:a16="http://schemas.microsoft.com/office/drawing/2014/main" id="{4D6D8DA7-3A1A-495D-B010-B7F83F854DB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309499" y="2436659"/>
                <a:ext cx="327910" cy="276999"/>
              </a:xfrm>
              <a:prstGeom prst="rect">
                <a:avLst/>
              </a:prstGeom>
              <a:blipFill>
                <a:blip r:embed="rId6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37" name="TextBox 36">
                <a:extLst>
                  <a:ext uri="{FF2B5EF4-FFF2-40B4-BE49-F238E27FC236}">
                    <a16:creationId xmlns:a16="http://schemas.microsoft.com/office/drawing/2014/main" id="{BF1E4C60-3D30-45B9-9342-6B847B008391}"/>
                  </a:ext>
                </a:extLst>
              </p:cNvPr>
              <p:cNvSpPr txBox="1"/>
              <p:nvPr/>
            </p:nvSpPr>
            <p:spPr>
              <a:xfrm>
                <a:off x="5529426" y="2575157"/>
                <a:ext cx="327910" cy="276999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1200" b="0" i="1" smtClean="0">
                          <a:latin typeface="Cambria Math" panose="02040503050406030204" pitchFamily="18" charset="0"/>
                        </a:rPr>
                        <m:t>𝑂</m:t>
                      </m:r>
                    </m:oMath>
                  </m:oMathPara>
                </a14:m>
                <a:endParaRPr lang="en-US" sz="1200" dirty="0"/>
              </a:p>
            </p:txBody>
          </p:sp>
        </mc:Choice>
        <mc:Fallback xmlns="">
          <p:sp>
            <p:nvSpPr>
              <p:cNvPr id="37" name="TextBox 36">
                <a:extLst>
                  <a:ext uri="{FF2B5EF4-FFF2-40B4-BE49-F238E27FC236}">
                    <a16:creationId xmlns:a16="http://schemas.microsoft.com/office/drawing/2014/main" id="{BF1E4C60-3D30-45B9-9342-6B847B00839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529426" y="2575157"/>
                <a:ext cx="327910" cy="276999"/>
              </a:xfrm>
              <a:prstGeom prst="rect">
                <a:avLst/>
              </a:prstGeom>
              <a:blipFill>
                <a:blip r:embed="rId7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38" name="TextBox 37">
                <a:extLst>
                  <a:ext uri="{FF2B5EF4-FFF2-40B4-BE49-F238E27FC236}">
                    <a16:creationId xmlns:a16="http://schemas.microsoft.com/office/drawing/2014/main" id="{1241DAA3-F61A-41A0-905B-B3E501F7BD89}"/>
                  </a:ext>
                </a:extLst>
              </p:cNvPr>
              <p:cNvSpPr txBox="1"/>
              <p:nvPr/>
            </p:nvSpPr>
            <p:spPr>
              <a:xfrm>
                <a:off x="7127511" y="2575158"/>
                <a:ext cx="309123" cy="276999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1200" b="0" i="1" smtClean="0">
                          <a:latin typeface="Cambria Math" panose="02040503050406030204" pitchFamily="18" charset="0"/>
                        </a:rPr>
                        <m:t>𝑦</m:t>
                      </m:r>
                    </m:oMath>
                  </m:oMathPara>
                </a14:m>
                <a:endParaRPr lang="en-US" sz="1200" dirty="0"/>
              </a:p>
            </p:txBody>
          </p:sp>
        </mc:Choice>
        <mc:Fallback xmlns="">
          <p:sp>
            <p:nvSpPr>
              <p:cNvPr id="38" name="TextBox 37">
                <a:extLst>
                  <a:ext uri="{FF2B5EF4-FFF2-40B4-BE49-F238E27FC236}">
                    <a16:creationId xmlns:a16="http://schemas.microsoft.com/office/drawing/2014/main" id="{1241DAA3-F61A-41A0-905B-B3E501F7BD89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127511" y="2575158"/>
                <a:ext cx="309123" cy="276999"/>
              </a:xfrm>
              <a:prstGeom prst="rect">
                <a:avLst/>
              </a:prstGeom>
              <a:blipFill>
                <a:blip r:embed="rId8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39" name="TextBox 38">
                <a:extLst>
                  <a:ext uri="{FF2B5EF4-FFF2-40B4-BE49-F238E27FC236}">
                    <a16:creationId xmlns:a16="http://schemas.microsoft.com/office/drawing/2014/main" id="{EF45C652-8EEC-499C-9ADD-352BFD4FD54F}"/>
                  </a:ext>
                </a:extLst>
              </p:cNvPr>
              <p:cNvSpPr txBox="1"/>
              <p:nvPr/>
            </p:nvSpPr>
            <p:spPr>
              <a:xfrm>
                <a:off x="5607170" y="728458"/>
                <a:ext cx="296299" cy="276999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1200" b="0" i="1" smtClean="0">
                          <a:latin typeface="Cambria Math" panose="02040503050406030204" pitchFamily="18" charset="0"/>
                        </a:rPr>
                        <m:t>𝑧</m:t>
                      </m:r>
                    </m:oMath>
                  </m:oMathPara>
                </a14:m>
                <a:endParaRPr lang="en-US" sz="1200" dirty="0"/>
              </a:p>
            </p:txBody>
          </p:sp>
        </mc:Choice>
        <mc:Fallback xmlns="">
          <p:sp>
            <p:nvSpPr>
              <p:cNvPr id="39" name="TextBox 38">
                <a:extLst>
                  <a:ext uri="{FF2B5EF4-FFF2-40B4-BE49-F238E27FC236}">
                    <a16:creationId xmlns:a16="http://schemas.microsoft.com/office/drawing/2014/main" id="{EF45C652-8EEC-499C-9ADD-352BFD4FD54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607170" y="728458"/>
                <a:ext cx="296299" cy="276999"/>
              </a:xfrm>
              <a:prstGeom prst="rect">
                <a:avLst/>
              </a:prstGeom>
              <a:blipFill>
                <a:blip r:embed="rId9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2" name="Freeform: Shape 41">
            <a:extLst>
              <a:ext uri="{FF2B5EF4-FFF2-40B4-BE49-F238E27FC236}">
                <a16:creationId xmlns:a16="http://schemas.microsoft.com/office/drawing/2014/main" id="{EBCD764E-5D17-4857-AA26-12080E2D3150}"/>
              </a:ext>
            </a:extLst>
          </p:cNvPr>
          <p:cNvSpPr/>
          <p:nvPr/>
        </p:nvSpPr>
        <p:spPr>
          <a:xfrm>
            <a:off x="5883215" y="1440611"/>
            <a:ext cx="1337094" cy="888521"/>
          </a:xfrm>
          <a:custGeom>
            <a:avLst/>
            <a:gdLst>
              <a:gd name="connsiteX0" fmla="*/ 0 w 1337094"/>
              <a:gd name="connsiteY0" fmla="*/ 888521 h 888521"/>
              <a:gd name="connsiteX1" fmla="*/ 276045 w 1337094"/>
              <a:gd name="connsiteY1" fmla="*/ 284672 h 888521"/>
              <a:gd name="connsiteX2" fmla="*/ 776377 w 1337094"/>
              <a:gd name="connsiteY2" fmla="*/ 34506 h 888521"/>
              <a:gd name="connsiteX3" fmla="*/ 1337094 w 1337094"/>
              <a:gd name="connsiteY3" fmla="*/ 0 h 88852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1337094" h="888521">
                <a:moveTo>
                  <a:pt x="0" y="888521"/>
                </a:moveTo>
                <a:cubicBezTo>
                  <a:pt x="73324" y="657764"/>
                  <a:pt x="146649" y="427008"/>
                  <a:pt x="276045" y="284672"/>
                </a:cubicBezTo>
                <a:cubicBezTo>
                  <a:pt x="405441" y="142336"/>
                  <a:pt x="599536" y="81951"/>
                  <a:pt x="776377" y="34506"/>
                </a:cubicBezTo>
                <a:cubicBezTo>
                  <a:pt x="953219" y="-12939"/>
                  <a:pt x="1229264" y="5751"/>
                  <a:pt x="1337094" y="0"/>
                </a:cubicBezTo>
              </a:path>
            </a:pathLst>
          </a:custGeom>
          <a:ln w="1270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55" name="Straight Connector 54">
            <a:extLst>
              <a:ext uri="{FF2B5EF4-FFF2-40B4-BE49-F238E27FC236}">
                <a16:creationId xmlns:a16="http://schemas.microsoft.com/office/drawing/2014/main" id="{29005273-F71B-40CF-BC4D-4EE0BBD61237}"/>
              </a:ext>
            </a:extLst>
          </p:cNvPr>
          <p:cNvCxnSpPr>
            <a:stCxn id="42" idx="1"/>
          </p:cNvCxnSpPr>
          <p:nvPr/>
        </p:nvCxnSpPr>
        <p:spPr>
          <a:xfrm flipH="1" flipV="1">
            <a:off x="6096000" y="1639019"/>
            <a:ext cx="63260" cy="86264"/>
          </a:xfrm>
          <a:prstGeom prst="line">
            <a:avLst/>
          </a:prstGeom>
          <a:ln w="1270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59" name="Straight Connector 58">
            <a:extLst>
              <a:ext uri="{FF2B5EF4-FFF2-40B4-BE49-F238E27FC236}">
                <a16:creationId xmlns:a16="http://schemas.microsoft.com/office/drawing/2014/main" id="{F6FDF9A9-61CE-4B8A-8504-8AE8EFF3C076}"/>
              </a:ext>
            </a:extLst>
          </p:cNvPr>
          <p:cNvCxnSpPr>
            <a:cxnSpLocks/>
            <a:stCxn id="42" idx="2"/>
          </p:cNvCxnSpPr>
          <p:nvPr/>
        </p:nvCxnSpPr>
        <p:spPr>
          <a:xfrm flipH="1" flipV="1">
            <a:off x="6581955" y="1380226"/>
            <a:ext cx="77637" cy="94891"/>
          </a:xfrm>
          <a:prstGeom prst="line">
            <a:avLst/>
          </a:prstGeom>
          <a:ln w="1270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78" name="TextBox 77">
                <a:extLst>
                  <a:ext uri="{FF2B5EF4-FFF2-40B4-BE49-F238E27FC236}">
                    <a16:creationId xmlns:a16="http://schemas.microsoft.com/office/drawing/2014/main" id="{0928CBEE-FAC0-4720-8145-5178F1CAC5C2}"/>
                  </a:ext>
                </a:extLst>
              </p:cNvPr>
              <p:cNvSpPr txBox="1"/>
              <p:nvPr/>
            </p:nvSpPr>
            <p:spPr>
              <a:xfrm>
                <a:off x="2158600" y="2385204"/>
                <a:ext cx="476412" cy="276999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12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1200" b="0" i="1" smtClean="0">
                              <a:latin typeface="Cambria Math" panose="02040503050406030204" pitchFamily="18" charset="0"/>
                            </a:rPr>
                            <m:t>𝑡</m:t>
                          </m:r>
                        </m:e>
                        <m:sub>
                          <m:r>
                            <a:rPr lang="en-US" sz="1200" b="0" i="1" smtClean="0">
                              <a:latin typeface="Cambria Math" panose="02040503050406030204" pitchFamily="18" charset="0"/>
                            </a:rPr>
                            <m:t>𝑖</m:t>
                          </m:r>
                          <m:r>
                            <a:rPr lang="en-US" sz="1200" b="0" i="1" smtClean="0">
                              <a:latin typeface="Cambria Math" panose="02040503050406030204" pitchFamily="18" charset="0"/>
                            </a:rPr>
                            <m:t>−1</m:t>
                          </m:r>
                        </m:sub>
                      </m:sSub>
                    </m:oMath>
                  </m:oMathPara>
                </a14:m>
                <a:endParaRPr lang="en-US" sz="1200" dirty="0"/>
              </a:p>
            </p:txBody>
          </p:sp>
        </mc:Choice>
        <mc:Fallback xmlns="">
          <p:sp>
            <p:nvSpPr>
              <p:cNvPr id="78" name="TextBox 77">
                <a:extLst>
                  <a:ext uri="{FF2B5EF4-FFF2-40B4-BE49-F238E27FC236}">
                    <a16:creationId xmlns:a16="http://schemas.microsoft.com/office/drawing/2014/main" id="{0928CBEE-FAC0-4720-8145-5178F1CAC5C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158600" y="2385204"/>
                <a:ext cx="476412" cy="276999"/>
              </a:xfrm>
              <a:prstGeom prst="rect">
                <a:avLst/>
              </a:prstGeom>
              <a:blipFill>
                <a:blip r:embed="rId10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85" name="TextBox 84">
                <a:extLst>
                  <a:ext uri="{FF2B5EF4-FFF2-40B4-BE49-F238E27FC236}">
                    <a16:creationId xmlns:a16="http://schemas.microsoft.com/office/drawing/2014/main" id="{4FCC15C2-2A37-4540-A573-CDAF80B785D8}"/>
                  </a:ext>
                </a:extLst>
              </p:cNvPr>
              <p:cNvSpPr txBox="1"/>
              <p:nvPr/>
            </p:nvSpPr>
            <p:spPr>
              <a:xfrm>
                <a:off x="2593513" y="2394957"/>
                <a:ext cx="328936" cy="276999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12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1200" b="0" i="1" smtClean="0">
                              <a:latin typeface="Cambria Math" panose="02040503050406030204" pitchFamily="18" charset="0"/>
                            </a:rPr>
                            <m:t>𝑡</m:t>
                          </m:r>
                        </m:e>
                        <m:sub>
                          <m:r>
                            <a:rPr lang="en-US" sz="1200" b="0" i="1" smtClean="0">
                              <a:latin typeface="Cambria Math" panose="02040503050406030204" pitchFamily="18" charset="0"/>
                            </a:rPr>
                            <m:t>𝑖</m:t>
                          </m:r>
                        </m:sub>
                      </m:sSub>
                    </m:oMath>
                  </m:oMathPara>
                </a14:m>
                <a:endParaRPr lang="en-US" sz="1200" dirty="0"/>
              </a:p>
            </p:txBody>
          </p:sp>
        </mc:Choice>
        <mc:Fallback xmlns="">
          <p:sp>
            <p:nvSpPr>
              <p:cNvPr id="85" name="TextBox 84">
                <a:extLst>
                  <a:ext uri="{FF2B5EF4-FFF2-40B4-BE49-F238E27FC236}">
                    <a16:creationId xmlns:a16="http://schemas.microsoft.com/office/drawing/2014/main" id="{4FCC15C2-2A37-4540-A573-CDAF80B785D8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593513" y="2394957"/>
                <a:ext cx="328936" cy="276999"/>
              </a:xfrm>
              <a:prstGeom prst="rect">
                <a:avLst/>
              </a:prstGeom>
              <a:blipFill>
                <a:blip r:embed="rId11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87" name="Straight Arrow Connector 86">
            <a:extLst>
              <a:ext uri="{FF2B5EF4-FFF2-40B4-BE49-F238E27FC236}">
                <a16:creationId xmlns:a16="http://schemas.microsoft.com/office/drawing/2014/main" id="{9649FB1D-7243-4597-8E2C-C2B5286A7E9C}"/>
              </a:ext>
            </a:extLst>
          </p:cNvPr>
          <p:cNvCxnSpPr>
            <a:cxnSpLocks/>
            <a:endCxn id="42" idx="1"/>
          </p:cNvCxnSpPr>
          <p:nvPr/>
        </p:nvCxnSpPr>
        <p:spPr>
          <a:xfrm flipV="1">
            <a:off x="5607169" y="1725283"/>
            <a:ext cx="552091" cy="824604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94" name="Straight Arrow Connector 93">
            <a:extLst>
              <a:ext uri="{FF2B5EF4-FFF2-40B4-BE49-F238E27FC236}">
                <a16:creationId xmlns:a16="http://schemas.microsoft.com/office/drawing/2014/main" id="{C7608BB1-FB29-4083-9980-CBE1E17A76AB}"/>
              </a:ext>
            </a:extLst>
          </p:cNvPr>
          <p:cNvCxnSpPr>
            <a:cxnSpLocks/>
            <a:endCxn id="42" idx="2"/>
          </p:cNvCxnSpPr>
          <p:nvPr/>
        </p:nvCxnSpPr>
        <p:spPr>
          <a:xfrm flipV="1">
            <a:off x="5607169" y="1475117"/>
            <a:ext cx="1052423" cy="107477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110" name="TextBox 109">
                <a:extLst>
                  <a:ext uri="{FF2B5EF4-FFF2-40B4-BE49-F238E27FC236}">
                    <a16:creationId xmlns:a16="http://schemas.microsoft.com/office/drawing/2014/main" id="{A1882EE4-2C07-440D-9C6E-C5825B151DE8}"/>
                  </a:ext>
                </a:extLst>
              </p:cNvPr>
              <p:cNvSpPr txBox="1"/>
              <p:nvPr/>
            </p:nvSpPr>
            <p:spPr>
              <a:xfrm>
                <a:off x="5529426" y="1543651"/>
                <a:ext cx="681790" cy="276999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acc>
                        <m:accPr>
                          <m:chr m:val="⃗"/>
                          <m:ctrlPr>
                            <a:rPr lang="en-US" sz="1200" b="0" i="1" smtClean="0">
                              <a:latin typeface="Cambria Math" panose="02040503050406030204" pitchFamily="18" charset="0"/>
                            </a:rPr>
                          </m:ctrlPr>
                        </m:accPr>
                        <m:e>
                          <m:r>
                            <a:rPr lang="en-US" sz="1200" b="0" i="1" smtClean="0">
                              <a:latin typeface="Cambria Math" panose="02040503050406030204" pitchFamily="18" charset="0"/>
                            </a:rPr>
                            <m:t>𝑟</m:t>
                          </m:r>
                        </m:e>
                      </m:acc>
                      <m:r>
                        <a:rPr lang="en-US" sz="1200" b="0" i="1" smtClean="0">
                          <a:latin typeface="Cambria Math" panose="02040503050406030204" pitchFamily="18" charset="0"/>
                        </a:rPr>
                        <m:t>(</m:t>
                      </m:r>
                      <m:sSub>
                        <m:sSubPr>
                          <m:ctrlPr>
                            <a:rPr lang="en-US" sz="12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1200" b="0" i="1" smtClean="0">
                              <a:latin typeface="Cambria Math" panose="02040503050406030204" pitchFamily="18" charset="0"/>
                            </a:rPr>
                            <m:t>𝑡</m:t>
                          </m:r>
                        </m:e>
                        <m:sub>
                          <m:r>
                            <a:rPr lang="en-US" sz="1200" b="0" i="1" smtClean="0">
                              <a:latin typeface="Cambria Math" panose="02040503050406030204" pitchFamily="18" charset="0"/>
                            </a:rPr>
                            <m:t>𝑖</m:t>
                          </m:r>
                          <m:r>
                            <a:rPr lang="en-US" sz="1200" b="0" i="1" smtClean="0">
                              <a:latin typeface="Cambria Math" panose="02040503050406030204" pitchFamily="18" charset="0"/>
                            </a:rPr>
                            <m:t>−1</m:t>
                          </m:r>
                        </m:sub>
                      </m:sSub>
                      <m:r>
                        <a:rPr lang="en-US" sz="1200" b="0" i="1" smtClean="0">
                          <a:latin typeface="Cambria Math" panose="02040503050406030204" pitchFamily="18" charset="0"/>
                        </a:rPr>
                        <m:t>)</m:t>
                      </m:r>
                    </m:oMath>
                  </m:oMathPara>
                </a14:m>
                <a:endParaRPr lang="en-US" sz="1200" dirty="0"/>
              </a:p>
            </p:txBody>
          </p:sp>
        </mc:Choice>
        <mc:Fallback xmlns="">
          <p:sp>
            <p:nvSpPr>
              <p:cNvPr id="110" name="TextBox 109">
                <a:extLst>
                  <a:ext uri="{FF2B5EF4-FFF2-40B4-BE49-F238E27FC236}">
                    <a16:creationId xmlns:a16="http://schemas.microsoft.com/office/drawing/2014/main" id="{A1882EE4-2C07-440D-9C6E-C5825B151DE8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529426" y="1543651"/>
                <a:ext cx="681790" cy="276999"/>
              </a:xfrm>
              <a:prstGeom prst="rect">
                <a:avLst/>
              </a:prstGeom>
              <a:blipFill>
                <a:blip r:embed="rId12"/>
                <a:stretch>
                  <a:fillRect t="-2174" b="-6522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11" name="TextBox 110">
                <a:extLst>
                  <a:ext uri="{FF2B5EF4-FFF2-40B4-BE49-F238E27FC236}">
                    <a16:creationId xmlns:a16="http://schemas.microsoft.com/office/drawing/2014/main" id="{9A2864EB-CC98-48F5-ABC4-040A323F8537}"/>
                  </a:ext>
                </a:extLst>
              </p:cNvPr>
              <p:cNvSpPr txBox="1"/>
              <p:nvPr/>
            </p:nvSpPr>
            <p:spPr>
              <a:xfrm>
                <a:off x="6593198" y="1187487"/>
                <a:ext cx="534313" cy="276999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acc>
                        <m:accPr>
                          <m:chr m:val="⃗"/>
                          <m:ctrlPr>
                            <a:rPr lang="en-US" sz="1200" b="0" i="1" smtClean="0">
                              <a:latin typeface="Cambria Math" panose="02040503050406030204" pitchFamily="18" charset="0"/>
                            </a:rPr>
                          </m:ctrlPr>
                        </m:accPr>
                        <m:e>
                          <m:r>
                            <a:rPr lang="en-US" sz="1200" b="0" i="1" smtClean="0">
                              <a:latin typeface="Cambria Math" panose="02040503050406030204" pitchFamily="18" charset="0"/>
                            </a:rPr>
                            <m:t>𝑟</m:t>
                          </m:r>
                        </m:e>
                      </m:acc>
                      <m:r>
                        <a:rPr lang="en-US" sz="1200" b="0" i="1" smtClean="0">
                          <a:latin typeface="Cambria Math" panose="02040503050406030204" pitchFamily="18" charset="0"/>
                        </a:rPr>
                        <m:t>(</m:t>
                      </m:r>
                      <m:sSub>
                        <m:sSubPr>
                          <m:ctrlPr>
                            <a:rPr lang="en-US" sz="12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1200" b="0" i="1" smtClean="0">
                              <a:latin typeface="Cambria Math" panose="02040503050406030204" pitchFamily="18" charset="0"/>
                            </a:rPr>
                            <m:t>𝑡</m:t>
                          </m:r>
                        </m:e>
                        <m:sub>
                          <m:r>
                            <a:rPr lang="en-US" sz="1200" b="0" i="1" smtClean="0">
                              <a:latin typeface="Cambria Math" panose="02040503050406030204" pitchFamily="18" charset="0"/>
                            </a:rPr>
                            <m:t>𝑖</m:t>
                          </m:r>
                        </m:sub>
                      </m:sSub>
                      <m:r>
                        <a:rPr lang="en-US" sz="1200" b="0" i="1" smtClean="0">
                          <a:latin typeface="Cambria Math" panose="02040503050406030204" pitchFamily="18" charset="0"/>
                        </a:rPr>
                        <m:t>)</m:t>
                      </m:r>
                    </m:oMath>
                  </m:oMathPara>
                </a14:m>
                <a:endParaRPr lang="en-US" sz="1200" dirty="0"/>
              </a:p>
            </p:txBody>
          </p:sp>
        </mc:Choice>
        <mc:Fallback xmlns="">
          <p:sp>
            <p:nvSpPr>
              <p:cNvPr id="111" name="TextBox 110">
                <a:extLst>
                  <a:ext uri="{FF2B5EF4-FFF2-40B4-BE49-F238E27FC236}">
                    <a16:creationId xmlns:a16="http://schemas.microsoft.com/office/drawing/2014/main" id="{9A2864EB-CC98-48F5-ABC4-040A323F853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593198" y="1187487"/>
                <a:ext cx="534313" cy="276999"/>
              </a:xfrm>
              <a:prstGeom prst="rect">
                <a:avLst/>
              </a:prstGeom>
              <a:blipFill>
                <a:blip r:embed="rId13"/>
                <a:stretch>
                  <a:fillRect t="-2222" b="-8889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3368339091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5" name="Straight Arrow Connector 4">
            <a:extLst>
              <a:ext uri="{FF2B5EF4-FFF2-40B4-BE49-F238E27FC236}">
                <a16:creationId xmlns:a16="http://schemas.microsoft.com/office/drawing/2014/main" id="{ED306833-0DE3-43A2-8E6D-4DD57DF8B6C4}"/>
              </a:ext>
            </a:extLst>
          </p:cNvPr>
          <p:cNvCxnSpPr>
            <a:cxnSpLocks/>
          </p:cNvCxnSpPr>
          <p:nvPr/>
        </p:nvCxnSpPr>
        <p:spPr>
          <a:xfrm>
            <a:off x="1475117" y="2424023"/>
            <a:ext cx="2191109" cy="0"/>
          </a:xfrm>
          <a:prstGeom prst="straightConnector1">
            <a:avLst/>
          </a:prstGeom>
          <a:ln w="12700"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8" name="Straight Connector 7">
            <a:extLst>
              <a:ext uri="{FF2B5EF4-FFF2-40B4-BE49-F238E27FC236}">
                <a16:creationId xmlns:a16="http://schemas.microsoft.com/office/drawing/2014/main" id="{DC325EF6-7873-4663-AB04-B7A25BCF817E}"/>
              </a:ext>
            </a:extLst>
          </p:cNvPr>
          <p:cNvCxnSpPr>
            <a:cxnSpLocks/>
          </p:cNvCxnSpPr>
          <p:nvPr/>
        </p:nvCxnSpPr>
        <p:spPr>
          <a:xfrm>
            <a:off x="1871932" y="2355011"/>
            <a:ext cx="0" cy="60386"/>
          </a:xfrm>
          <a:prstGeom prst="line">
            <a:avLst/>
          </a:prstGeom>
          <a:ln w="1270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4" name="Straight Connector 13">
            <a:extLst>
              <a:ext uri="{FF2B5EF4-FFF2-40B4-BE49-F238E27FC236}">
                <a16:creationId xmlns:a16="http://schemas.microsoft.com/office/drawing/2014/main" id="{031BA9B3-F886-4792-857F-91594C97D0B4}"/>
              </a:ext>
            </a:extLst>
          </p:cNvPr>
          <p:cNvCxnSpPr>
            <a:cxnSpLocks/>
          </p:cNvCxnSpPr>
          <p:nvPr/>
        </p:nvCxnSpPr>
        <p:spPr>
          <a:xfrm>
            <a:off x="3286705" y="2329132"/>
            <a:ext cx="0" cy="86264"/>
          </a:xfrm>
          <a:prstGeom prst="line">
            <a:avLst/>
          </a:prstGeom>
          <a:ln w="1270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18" name="TextBox 17">
                <a:extLst>
                  <a:ext uri="{FF2B5EF4-FFF2-40B4-BE49-F238E27FC236}">
                    <a16:creationId xmlns:a16="http://schemas.microsoft.com/office/drawing/2014/main" id="{C525E05E-8B2E-4CBD-80B7-7DF54D2D72FC}"/>
                  </a:ext>
                </a:extLst>
              </p:cNvPr>
              <p:cNvSpPr txBox="1"/>
              <p:nvPr/>
            </p:nvSpPr>
            <p:spPr>
              <a:xfrm>
                <a:off x="1713139" y="2385204"/>
                <a:ext cx="317586" cy="276999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120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𝛼</m:t>
                      </m:r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18" name="TextBox 17">
                <a:extLst>
                  <a:ext uri="{FF2B5EF4-FFF2-40B4-BE49-F238E27FC236}">
                    <a16:creationId xmlns:a16="http://schemas.microsoft.com/office/drawing/2014/main" id="{C525E05E-8B2E-4CBD-80B7-7DF54D2D72F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713139" y="2385204"/>
                <a:ext cx="317586" cy="276999"/>
              </a:xfrm>
              <a:prstGeom prst="rect">
                <a:avLst/>
              </a:prstGeom>
              <a:blipFill>
                <a:blip r:embed="rId2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9" name="TextBox 18">
                <a:extLst>
                  <a:ext uri="{FF2B5EF4-FFF2-40B4-BE49-F238E27FC236}">
                    <a16:creationId xmlns:a16="http://schemas.microsoft.com/office/drawing/2014/main" id="{24BFBB3E-4059-42E6-B3F5-067C4C3B4113}"/>
                  </a:ext>
                </a:extLst>
              </p:cNvPr>
              <p:cNvSpPr txBox="1"/>
              <p:nvPr/>
            </p:nvSpPr>
            <p:spPr>
              <a:xfrm>
                <a:off x="3107763" y="2397839"/>
                <a:ext cx="317586" cy="276999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120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𝛽</m:t>
                      </m:r>
                    </m:oMath>
                  </m:oMathPara>
                </a14:m>
                <a:endParaRPr lang="en-US" sz="1200" dirty="0"/>
              </a:p>
            </p:txBody>
          </p:sp>
        </mc:Choice>
        <mc:Fallback xmlns="">
          <p:sp>
            <p:nvSpPr>
              <p:cNvPr id="19" name="TextBox 18">
                <a:extLst>
                  <a:ext uri="{FF2B5EF4-FFF2-40B4-BE49-F238E27FC236}">
                    <a16:creationId xmlns:a16="http://schemas.microsoft.com/office/drawing/2014/main" id="{24BFBB3E-4059-42E6-B3F5-067C4C3B4113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107763" y="2397839"/>
                <a:ext cx="317586" cy="276999"/>
              </a:xfrm>
              <a:prstGeom prst="rect">
                <a:avLst/>
              </a:prstGeom>
              <a:blipFill>
                <a:blip r:embed="rId3"/>
                <a:stretch>
                  <a:fillRect b="-4348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0" name="TextBox 19">
                <a:extLst>
                  <a:ext uri="{FF2B5EF4-FFF2-40B4-BE49-F238E27FC236}">
                    <a16:creationId xmlns:a16="http://schemas.microsoft.com/office/drawing/2014/main" id="{63339690-FE0F-4310-B6F1-C9443E99543A}"/>
                  </a:ext>
                </a:extLst>
              </p:cNvPr>
              <p:cNvSpPr txBox="1"/>
              <p:nvPr/>
            </p:nvSpPr>
            <p:spPr>
              <a:xfrm>
                <a:off x="3497913" y="2411388"/>
                <a:ext cx="284629" cy="276999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12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𝑡</m:t>
                      </m:r>
                    </m:oMath>
                  </m:oMathPara>
                </a14:m>
                <a:endParaRPr lang="en-US" sz="1200" dirty="0"/>
              </a:p>
            </p:txBody>
          </p:sp>
        </mc:Choice>
        <mc:Fallback xmlns="">
          <p:sp>
            <p:nvSpPr>
              <p:cNvPr id="20" name="TextBox 19">
                <a:extLst>
                  <a:ext uri="{FF2B5EF4-FFF2-40B4-BE49-F238E27FC236}">
                    <a16:creationId xmlns:a16="http://schemas.microsoft.com/office/drawing/2014/main" id="{63339690-FE0F-4310-B6F1-C9443E99543A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497913" y="2411388"/>
                <a:ext cx="284629" cy="276999"/>
              </a:xfrm>
              <a:prstGeom prst="rect">
                <a:avLst/>
              </a:prstGeom>
              <a:blipFill>
                <a:blip r:embed="rId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22" name="Straight Arrow Connector 21">
            <a:extLst>
              <a:ext uri="{FF2B5EF4-FFF2-40B4-BE49-F238E27FC236}">
                <a16:creationId xmlns:a16="http://schemas.microsoft.com/office/drawing/2014/main" id="{3CB38A04-3809-4E87-AFC0-F8EE22B5BB94}"/>
              </a:ext>
            </a:extLst>
          </p:cNvPr>
          <p:cNvCxnSpPr/>
          <p:nvPr/>
        </p:nvCxnSpPr>
        <p:spPr>
          <a:xfrm>
            <a:off x="5607170" y="2553896"/>
            <a:ext cx="1673524" cy="0"/>
          </a:xfrm>
          <a:prstGeom prst="straightConnector1">
            <a:avLst/>
          </a:prstGeom>
          <a:ln w="12700"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3" name="Straight Arrow Connector 22">
            <a:extLst>
              <a:ext uri="{FF2B5EF4-FFF2-40B4-BE49-F238E27FC236}">
                <a16:creationId xmlns:a16="http://schemas.microsoft.com/office/drawing/2014/main" id="{88938710-8E86-41C2-AE98-8CE569591AF9}"/>
              </a:ext>
            </a:extLst>
          </p:cNvPr>
          <p:cNvCxnSpPr>
            <a:cxnSpLocks/>
          </p:cNvCxnSpPr>
          <p:nvPr/>
        </p:nvCxnSpPr>
        <p:spPr>
          <a:xfrm flipV="1">
            <a:off x="5607170" y="974785"/>
            <a:ext cx="0" cy="1579112"/>
          </a:xfrm>
          <a:prstGeom prst="straightConnector1">
            <a:avLst/>
          </a:prstGeom>
          <a:ln w="12700"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7" name="Straight Arrow Connector 26">
            <a:extLst>
              <a:ext uri="{FF2B5EF4-FFF2-40B4-BE49-F238E27FC236}">
                <a16:creationId xmlns:a16="http://schemas.microsoft.com/office/drawing/2014/main" id="{BC08FEE1-656F-4A3D-8B0C-5145BF313F92}"/>
              </a:ext>
            </a:extLst>
          </p:cNvPr>
          <p:cNvCxnSpPr>
            <a:cxnSpLocks/>
          </p:cNvCxnSpPr>
          <p:nvPr/>
        </p:nvCxnSpPr>
        <p:spPr>
          <a:xfrm flipH="1">
            <a:off x="4799162" y="2553420"/>
            <a:ext cx="808008" cy="1069064"/>
          </a:xfrm>
          <a:prstGeom prst="straightConnector1">
            <a:avLst/>
          </a:prstGeom>
          <a:ln w="12700"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9" name="Straight Arrow Connector 28">
            <a:extLst>
              <a:ext uri="{FF2B5EF4-FFF2-40B4-BE49-F238E27FC236}">
                <a16:creationId xmlns:a16="http://schemas.microsoft.com/office/drawing/2014/main" id="{CEB61469-5E4A-4E92-BAD2-F2098E864899}"/>
              </a:ext>
            </a:extLst>
          </p:cNvPr>
          <p:cNvCxnSpPr/>
          <p:nvPr/>
        </p:nvCxnSpPr>
        <p:spPr>
          <a:xfrm>
            <a:off x="5607170" y="2554373"/>
            <a:ext cx="1673524" cy="0"/>
          </a:xfrm>
          <a:prstGeom prst="straightConnector1">
            <a:avLst/>
          </a:prstGeom>
          <a:ln w="12700"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35" name="TextBox 34">
                <a:extLst>
                  <a:ext uri="{FF2B5EF4-FFF2-40B4-BE49-F238E27FC236}">
                    <a16:creationId xmlns:a16="http://schemas.microsoft.com/office/drawing/2014/main" id="{A52FC8A2-521C-4CB7-AEF1-4C1D50578CF2}"/>
                  </a:ext>
                </a:extLst>
              </p:cNvPr>
              <p:cNvSpPr txBox="1"/>
              <p:nvPr/>
            </p:nvSpPr>
            <p:spPr>
              <a:xfrm>
                <a:off x="4799161" y="3513702"/>
                <a:ext cx="306366" cy="276999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12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𝑥</m:t>
                      </m:r>
                    </m:oMath>
                  </m:oMathPara>
                </a14:m>
                <a:endParaRPr lang="en-US" sz="1200" dirty="0"/>
              </a:p>
            </p:txBody>
          </p:sp>
        </mc:Choice>
        <mc:Fallback xmlns="">
          <p:sp>
            <p:nvSpPr>
              <p:cNvPr id="35" name="TextBox 34">
                <a:extLst>
                  <a:ext uri="{FF2B5EF4-FFF2-40B4-BE49-F238E27FC236}">
                    <a16:creationId xmlns:a16="http://schemas.microsoft.com/office/drawing/2014/main" id="{A52FC8A2-521C-4CB7-AEF1-4C1D50578CF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799161" y="3513702"/>
                <a:ext cx="306366" cy="276999"/>
              </a:xfrm>
              <a:prstGeom prst="rect">
                <a:avLst/>
              </a:prstGeom>
              <a:blipFill>
                <a:blip r:embed="rId5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36" name="TextBox 35">
                <a:extLst>
                  <a:ext uri="{FF2B5EF4-FFF2-40B4-BE49-F238E27FC236}">
                    <a16:creationId xmlns:a16="http://schemas.microsoft.com/office/drawing/2014/main" id="{4D6D8DA7-3A1A-495D-B010-B7F83F854DBD}"/>
                  </a:ext>
                </a:extLst>
              </p:cNvPr>
              <p:cNvSpPr txBox="1"/>
              <p:nvPr/>
            </p:nvSpPr>
            <p:spPr>
              <a:xfrm>
                <a:off x="1309499" y="2436659"/>
                <a:ext cx="327910" cy="276999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1200" b="0" i="1" smtClean="0">
                          <a:latin typeface="Cambria Math" panose="02040503050406030204" pitchFamily="18" charset="0"/>
                        </a:rPr>
                        <m:t>𝑂</m:t>
                      </m:r>
                    </m:oMath>
                  </m:oMathPara>
                </a14:m>
                <a:endParaRPr lang="en-US" sz="1200" dirty="0"/>
              </a:p>
            </p:txBody>
          </p:sp>
        </mc:Choice>
        <mc:Fallback xmlns="">
          <p:sp>
            <p:nvSpPr>
              <p:cNvPr id="36" name="TextBox 35">
                <a:extLst>
                  <a:ext uri="{FF2B5EF4-FFF2-40B4-BE49-F238E27FC236}">
                    <a16:creationId xmlns:a16="http://schemas.microsoft.com/office/drawing/2014/main" id="{4D6D8DA7-3A1A-495D-B010-B7F83F854DB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309499" y="2436659"/>
                <a:ext cx="327910" cy="276999"/>
              </a:xfrm>
              <a:prstGeom prst="rect">
                <a:avLst/>
              </a:prstGeom>
              <a:blipFill>
                <a:blip r:embed="rId6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37" name="TextBox 36">
                <a:extLst>
                  <a:ext uri="{FF2B5EF4-FFF2-40B4-BE49-F238E27FC236}">
                    <a16:creationId xmlns:a16="http://schemas.microsoft.com/office/drawing/2014/main" id="{BF1E4C60-3D30-45B9-9342-6B847B008391}"/>
                  </a:ext>
                </a:extLst>
              </p:cNvPr>
              <p:cNvSpPr txBox="1"/>
              <p:nvPr/>
            </p:nvSpPr>
            <p:spPr>
              <a:xfrm>
                <a:off x="5529426" y="2575157"/>
                <a:ext cx="327910" cy="276999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1200" b="0" i="1" smtClean="0">
                          <a:latin typeface="Cambria Math" panose="02040503050406030204" pitchFamily="18" charset="0"/>
                        </a:rPr>
                        <m:t>𝑂</m:t>
                      </m:r>
                    </m:oMath>
                  </m:oMathPara>
                </a14:m>
                <a:endParaRPr lang="en-US" sz="1200" dirty="0"/>
              </a:p>
            </p:txBody>
          </p:sp>
        </mc:Choice>
        <mc:Fallback xmlns="">
          <p:sp>
            <p:nvSpPr>
              <p:cNvPr id="37" name="TextBox 36">
                <a:extLst>
                  <a:ext uri="{FF2B5EF4-FFF2-40B4-BE49-F238E27FC236}">
                    <a16:creationId xmlns:a16="http://schemas.microsoft.com/office/drawing/2014/main" id="{BF1E4C60-3D30-45B9-9342-6B847B00839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529426" y="2575157"/>
                <a:ext cx="327910" cy="276999"/>
              </a:xfrm>
              <a:prstGeom prst="rect">
                <a:avLst/>
              </a:prstGeom>
              <a:blipFill>
                <a:blip r:embed="rId7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38" name="TextBox 37">
                <a:extLst>
                  <a:ext uri="{FF2B5EF4-FFF2-40B4-BE49-F238E27FC236}">
                    <a16:creationId xmlns:a16="http://schemas.microsoft.com/office/drawing/2014/main" id="{1241DAA3-F61A-41A0-905B-B3E501F7BD89}"/>
                  </a:ext>
                </a:extLst>
              </p:cNvPr>
              <p:cNvSpPr txBox="1"/>
              <p:nvPr/>
            </p:nvSpPr>
            <p:spPr>
              <a:xfrm>
                <a:off x="7127511" y="2575158"/>
                <a:ext cx="309123" cy="276999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1200" b="0" i="1" smtClean="0">
                          <a:latin typeface="Cambria Math" panose="02040503050406030204" pitchFamily="18" charset="0"/>
                        </a:rPr>
                        <m:t>𝑦</m:t>
                      </m:r>
                    </m:oMath>
                  </m:oMathPara>
                </a14:m>
                <a:endParaRPr lang="en-US" sz="1200" dirty="0"/>
              </a:p>
            </p:txBody>
          </p:sp>
        </mc:Choice>
        <mc:Fallback xmlns="">
          <p:sp>
            <p:nvSpPr>
              <p:cNvPr id="38" name="TextBox 37">
                <a:extLst>
                  <a:ext uri="{FF2B5EF4-FFF2-40B4-BE49-F238E27FC236}">
                    <a16:creationId xmlns:a16="http://schemas.microsoft.com/office/drawing/2014/main" id="{1241DAA3-F61A-41A0-905B-B3E501F7BD89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127511" y="2575158"/>
                <a:ext cx="309123" cy="276999"/>
              </a:xfrm>
              <a:prstGeom prst="rect">
                <a:avLst/>
              </a:prstGeom>
              <a:blipFill>
                <a:blip r:embed="rId8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39" name="TextBox 38">
                <a:extLst>
                  <a:ext uri="{FF2B5EF4-FFF2-40B4-BE49-F238E27FC236}">
                    <a16:creationId xmlns:a16="http://schemas.microsoft.com/office/drawing/2014/main" id="{EF45C652-8EEC-499C-9ADD-352BFD4FD54F}"/>
                  </a:ext>
                </a:extLst>
              </p:cNvPr>
              <p:cNvSpPr txBox="1"/>
              <p:nvPr/>
            </p:nvSpPr>
            <p:spPr>
              <a:xfrm>
                <a:off x="5607170" y="728458"/>
                <a:ext cx="296299" cy="276999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1200" b="0" i="1" smtClean="0">
                          <a:latin typeface="Cambria Math" panose="02040503050406030204" pitchFamily="18" charset="0"/>
                        </a:rPr>
                        <m:t>𝑧</m:t>
                      </m:r>
                    </m:oMath>
                  </m:oMathPara>
                </a14:m>
                <a:endParaRPr lang="en-US" sz="1200" dirty="0"/>
              </a:p>
            </p:txBody>
          </p:sp>
        </mc:Choice>
        <mc:Fallback xmlns="">
          <p:sp>
            <p:nvSpPr>
              <p:cNvPr id="39" name="TextBox 38">
                <a:extLst>
                  <a:ext uri="{FF2B5EF4-FFF2-40B4-BE49-F238E27FC236}">
                    <a16:creationId xmlns:a16="http://schemas.microsoft.com/office/drawing/2014/main" id="{EF45C652-8EEC-499C-9ADD-352BFD4FD54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607170" y="728458"/>
                <a:ext cx="296299" cy="276999"/>
              </a:xfrm>
              <a:prstGeom prst="rect">
                <a:avLst/>
              </a:prstGeom>
              <a:blipFill>
                <a:blip r:embed="rId9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2" name="Freeform: Shape 41">
            <a:extLst>
              <a:ext uri="{FF2B5EF4-FFF2-40B4-BE49-F238E27FC236}">
                <a16:creationId xmlns:a16="http://schemas.microsoft.com/office/drawing/2014/main" id="{EBCD764E-5D17-4857-AA26-12080E2D3150}"/>
              </a:ext>
            </a:extLst>
          </p:cNvPr>
          <p:cNvSpPr/>
          <p:nvPr/>
        </p:nvSpPr>
        <p:spPr>
          <a:xfrm>
            <a:off x="5883215" y="1440611"/>
            <a:ext cx="1337094" cy="888521"/>
          </a:xfrm>
          <a:custGeom>
            <a:avLst/>
            <a:gdLst>
              <a:gd name="connsiteX0" fmla="*/ 0 w 1337094"/>
              <a:gd name="connsiteY0" fmla="*/ 888521 h 888521"/>
              <a:gd name="connsiteX1" fmla="*/ 276045 w 1337094"/>
              <a:gd name="connsiteY1" fmla="*/ 284672 h 888521"/>
              <a:gd name="connsiteX2" fmla="*/ 776377 w 1337094"/>
              <a:gd name="connsiteY2" fmla="*/ 34506 h 888521"/>
              <a:gd name="connsiteX3" fmla="*/ 1337094 w 1337094"/>
              <a:gd name="connsiteY3" fmla="*/ 0 h 88852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1337094" h="888521">
                <a:moveTo>
                  <a:pt x="0" y="888521"/>
                </a:moveTo>
                <a:cubicBezTo>
                  <a:pt x="73324" y="657764"/>
                  <a:pt x="146649" y="427008"/>
                  <a:pt x="276045" y="284672"/>
                </a:cubicBezTo>
                <a:cubicBezTo>
                  <a:pt x="405441" y="142336"/>
                  <a:pt x="599536" y="81951"/>
                  <a:pt x="776377" y="34506"/>
                </a:cubicBezTo>
                <a:cubicBezTo>
                  <a:pt x="953219" y="-12939"/>
                  <a:pt x="1229264" y="5751"/>
                  <a:pt x="1337094" y="0"/>
                </a:cubicBezTo>
              </a:path>
            </a:pathLst>
          </a:custGeom>
          <a:ln w="1270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55" name="Straight Connector 54">
            <a:extLst>
              <a:ext uri="{FF2B5EF4-FFF2-40B4-BE49-F238E27FC236}">
                <a16:creationId xmlns:a16="http://schemas.microsoft.com/office/drawing/2014/main" id="{29005273-F71B-40CF-BC4D-4EE0BBD61237}"/>
              </a:ext>
            </a:extLst>
          </p:cNvPr>
          <p:cNvCxnSpPr>
            <a:stCxn id="42" idx="1"/>
          </p:cNvCxnSpPr>
          <p:nvPr/>
        </p:nvCxnSpPr>
        <p:spPr>
          <a:xfrm flipH="1" flipV="1">
            <a:off x="6096000" y="1639019"/>
            <a:ext cx="63260" cy="86264"/>
          </a:xfrm>
          <a:prstGeom prst="line">
            <a:avLst/>
          </a:prstGeom>
          <a:ln w="1270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59" name="Straight Connector 58">
            <a:extLst>
              <a:ext uri="{FF2B5EF4-FFF2-40B4-BE49-F238E27FC236}">
                <a16:creationId xmlns:a16="http://schemas.microsoft.com/office/drawing/2014/main" id="{F6FDF9A9-61CE-4B8A-8504-8AE8EFF3C076}"/>
              </a:ext>
            </a:extLst>
          </p:cNvPr>
          <p:cNvCxnSpPr>
            <a:cxnSpLocks/>
            <a:stCxn id="42" idx="2"/>
          </p:cNvCxnSpPr>
          <p:nvPr/>
        </p:nvCxnSpPr>
        <p:spPr>
          <a:xfrm flipH="1" flipV="1">
            <a:off x="6581955" y="1380226"/>
            <a:ext cx="77637" cy="94891"/>
          </a:xfrm>
          <a:prstGeom prst="line">
            <a:avLst/>
          </a:prstGeom>
          <a:ln w="1270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78" name="TextBox 77">
                <a:extLst>
                  <a:ext uri="{FF2B5EF4-FFF2-40B4-BE49-F238E27FC236}">
                    <a16:creationId xmlns:a16="http://schemas.microsoft.com/office/drawing/2014/main" id="{0928CBEE-FAC0-4720-8145-5178F1CAC5C2}"/>
                  </a:ext>
                </a:extLst>
              </p:cNvPr>
              <p:cNvSpPr txBox="1"/>
              <p:nvPr/>
            </p:nvSpPr>
            <p:spPr>
              <a:xfrm>
                <a:off x="2158600" y="2385204"/>
                <a:ext cx="476412" cy="276999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12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1200" b="0" i="1" smtClean="0">
                              <a:latin typeface="Cambria Math" panose="02040503050406030204" pitchFamily="18" charset="0"/>
                            </a:rPr>
                            <m:t>𝑡</m:t>
                          </m:r>
                        </m:e>
                        <m:sub>
                          <m:r>
                            <a:rPr lang="en-US" sz="1200" b="0" i="1" smtClean="0">
                              <a:latin typeface="Cambria Math" panose="02040503050406030204" pitchFamily="18" charset="0"/>
                            </a:rPr>
                            <m:t>𝑖</m:t>
                          </m:r>
                          <m:r>
                            <a:rPr lang="en-US" sz="1200" b="0" i="1" smtClean="0">
                              <a:latin typeface="Cambria Math" panose="02040503050406030204" pitchFamily="18" charset="0"/>
                            </a:rPr>
                            <m:t>−1</m:t>
                          </m:r>
                        </m:sub>
                      </m:sSub>
                    </m:oMath>
                  </m:oMathPara>
                </a14:m>
                <a:endParaRPr lang="en-US" sz="1200" dirty="0"/>
              </a:p>
            </p:txBody>
          </p:sp>
        </mc:Choice>
        <mc:Fallback xmlns="">
          <p:sp>
            <p:nvSpPr>
              <p:cNvPr id="78" name="TextBox 77">
                <a:extLst>
                  <a:ext uri="{FF2B5EF4-FFF2-40B4-BE49-F238E27FC236}">
                    <a16:creationId xmlns:a16="http://schemas.microsoft.com/office/drawing/2014/main" id="{0928CBEE-FAC0-4720-8145-5178F1CAC5C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158600" y="2385204"/>
                <a:ext cx="476412" cy="276999"/>
              </a:xfrm>
              <a:prstGeom prst="rect">
                <a:avLst/>
              </a:prstGeom>
              <a:blipFill>
                <a:blip r:embed="rId10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85" name="TextBox 84">
                <a:extLst>
                  <a:ext uri="{FF2B5EF4-FFF2-40B4-BE49-F238E27FC236}">
                    <a16:creationId xmlns:a16="http://schemas.microsoft.com/office/drawing/2014/main" id="{4FCC15C2-2A37-4540-A573-CDAF80B785D8}"/>
                  </a:ext>
                </a:extLst>
              </p:cNvPr>
              <p:cNvSpPr txBox="1"/>
              <p:nvPr/>
            </p:nvSpPr>
            <p:spPr>
              <a:xfrm>
                <a:off x="2593513" y="2394957"/>
                <a:ext cx="328936" cy="276999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12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1200" b="0" i="1" smtClean="0">
                              <a:latin typeface="Cambria Math" panose="02040503050406030204" pitchFamily="18" charset="0"/>
                            </a:rPr>
                            <m:t>𝑡</m:t>
                          </m:r>
                        </m:e>
                        <m:sub>
                          <m:r>
                            <a:rPr lang="en-US" sz="1200" b="0" i="1" smtClean="0">
                              <a:latin typeface="Cambria Math" panose="02040503050406030204" pitchFamily="18" charset="0"/>
                            </a:rPr>
                            <m:t>𝑖</m:t>
                          </m:r>
                        </m:sub>
                      </m:sSub>
                    </m:oMath>
                  </m:oMathPara>
                </a14:m>
                <a:endParaRPr lang="en-US" sz="1200" dirty="0"/>
              </a:p>
            </p:txBody>
          </p:sp>
        </mc:Choice>
        <mc:Fallback xmlns="">
          <p:sp>
            <p:nvSpPr>
              <p:cNvPr id="85" name="TextBox 84">
                <a:extLst>
                  <a:ext uri="{FF2B5EF4-FFF2-40B4-BE49-F238E27FC236}">
                    <a16:creationId xmlns:a16="http://schemas.microsoft.com/office/drawing/2014/main" id="{4FCC15C2-2A37-4540-A573-CDAF80B785D8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593513" y="2394957"/>
                <a:ext cx="328936" cy="276999"/>
              </a:xfrm>
              <a:prstGeom prst="rect">
                <a:avLst/>
              </a:prstGeom>
              <a:blipFill>
                <a:blip r:embed="rId11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87" name="Straight Arrow Connector 86">
            <a:extLst>
              <a:ext uri="{FF2B5EF4-FFF2-40B4-BE49-F238E27FC236}">
                <a16:creationId xmlns:a16="http://schemas.microsoft.com/office/drawing/2014/main" id="{9649FB1D-7243-4597-8E2C-C2B5286A7E9C}"/>
              </a:ext>
            </a:extLst>
          </p:cNvPr>
          <p:cNvCxnSpPr>
            <a:cxnSpLocks/>
            <a:endCxn id="42" idx="1"/>
          </p:cNvCxnSpPr>
          <p:nvPr/>
        </p:nvCxnSpPr>
        <p:spPr>
          <a:xfrm flipV="1">
            <a:off x="5607169" y="1725283"/>
            <a:ext cx="552091" cy="824604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94" name="Straight Arrow Connector 93">
            <a:extLst>
              <a:ext uri="{FF2B5EF4-FFF2-40B4-BE49-F238E27FC236}">
                <a16:creationId xmlns:a16="http://schemas.microsoft.com/office/drawing/2014/main" id="{C7608BB1-FB29-4083-9980-CBE1E17A76AB}"/>
              </a:ext>
            </a:extLst>
          </p:cNvPr>
          <p:cNvCxnSpPr>
            <a:cxnSpLocks/>
            <a:endCxn id="42" idx="2"/>
          </p:cNvCxnSpPr>
          <p:nvPr/>
        </p:nvCxnSpPr>
        <p:spPr>
          <a:xfrm flipV="1">
            <a:off x="5607169" y="1475117"/>
            <a:ext cx="1052423" cy="107477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96" name="Straight Arrow Connector 95">
            <a:extLst>
              <a:ext uri="{FF2B5EF4-FFF2-40B4-BE49-F238E27FC236}">
                <a16:creationId xmlns:a16="http://schemas.microsoft.com/office/drawing/2014/main" id="{56DE5AB7-B3A3-497E-9284-1AE20AEF9C0C}"/>
              </a:ext>
            </a:extLst>
          </p:cNvPr>
          <p:cNvCxnSpPr>
            <a:cxnSpLocks/>
            <a:stCxn id="42" idx="1"/>
            <a:endCxn id="42" idx="2"/>
          </p:cNvCxnSpPr>
          <p:nvPr/>
        </p:nvCxnSpPr>
        <p:spPr>
          <a:xfrm flipV="1">
            <a:off x="6159260" y="1475117"/>
            <a:ext cx="500332" cy="250166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3" name="Straight Connector 102">
            <a:extLst>
              <a:ext uri="{FF2B5EF4-FFF2-40B4-BE49-F238E27FC236}">
                <a16:creationId xmlns:a16="http://schemas.microsoft.com/office/drawing/2014/main" id="{F633FC40-46F6-4BFE-88BC-A3E84F709448}"/>
              </a:ext>
            </a:extLst>
          </p:cNvPr>
          <p:cNvCxnSpPr>
            <a:cxnSpLocks/>
          </p:cNvCxnSpPr>
          <p:nvPr/>
        </p:nvCxnSpPr>
        <p:spPr>
          <a:xfrm>
            <a:off x="2295065" y="2424023"/>
            <a:ext cx="445662" cy="0"/>
          </a:xfrm>
          <a:prstGeom prst="line">
            <a:avLst/>
          </a:pr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110" name="TextBox 109">
                <a:extLst>
                  <a:ext uri="{FF2B5EF4-FFF2-40B4-BE49-F238E27FC236}">
                    <a16:creationId xmlns:a16="http://schemas.microsoft.com/office/drawing/2014/main" id="{A1882EE4-2C07-440D-9C6E-C5825B151DE8}"/>
                  </a:ext>
                </a:extLst>
              </p:cNvPr>
              <p:cNvSpPr txBox="1"/>
              <p:nvPr/>
            </p:nvSpPr>
            <p:spPr>
              <a:xfrm>
                <a:off x="5529426" y="1543651"/>
                <a:ext cx="681790" cy="276999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acc>
                        <m:accPr>
                          <m:chr m:val="⃗"/>
                          <m:ctrlPr>
                            <a:rPr lang="en-US" sz="1200" b="0" i="1" smtClean="0">
                              <a:latin typeface="Cambria Math" panose="02040503050406030204" pitchFamily="18" charset="0"/>
                            </a:rPr>
                          </m:ctrlPr>
                        </m:accPr>
                        <m:e>
                          <m:r>
                            <a:rPr lang="en-US" sz="1200" b="0" i="1" smtClean="0">
                              <a:latin typeface="Cambria Math" panose="02040503050406030204" pitchFamily="18" charset="0"/>
                            </a:rPr>
                            <m:t>𝑟</m:t>
                          </m:r>
                        </m:e>
                      </m:acc>
                      <m:r>
                        <a:rPr lang="en-US" sz="1200" b="0" i="1" smtClean="0">
                          <a:latin typeface="Cambria Math" panose="02040503050406030204" pitchFamily="18" charset="0"/>
                        </a:rPr>
                        <m:t>(</m:t>
                      </m:r>
                      <m:sSub>
                        <m:sSubPr>
                          <m:ctrlPr>
                            <a:rPr lang="en-US" sz="12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1200" b="0" i="1" smtClean="0">
                              <a:latin typeface="Cambria Math" panose="02040503050406030204" pitchFamily="18" charset="0"/>
                            </a:rPr>
                            <m:t>𝑡</m:t>
                          </m:r>
                        </m:e>
                        <m:sub>
                          <m:r>
                            <a:rPr lang="en-US" sz="1200" b="0" i="1" smtClean="0">
                              <a:latin typeface="Cambria Math" panose="02040503050406030204" pitchFamily="18" charset="0"/>
                            </a:rPr>
                            <m:t>𝑖</m:t>
                          </m:r>
                          <m:r>
                            <a:rPr lang="en-US" sz="1200" b="0" i="1" smtClean="0">
                              <a:latin typeface="Cambria Math" panose="02040503050406030204" pitchFamily="18" charset="0"/>
                            </a:rPr>
                            <m:t>−1</m:t>
                          </m:r>
                        </m:sub>
                      </m:sSub>
                      <m:r>
                        <a:rPr lang="en-US" sz="1200" b="0" i="1" smtClean="0">
                          <a:latin typeface="Cambria Math" panose="02040503050406030204" pitchFamily="18" charset="0"/>
                        </a:rPr>
                        <m:t>)</m:t>
                      </m:r>
                    </m:oMath>
                  </m:oMathPara>
                </a14:m>
                <a:endParaRPr lang="en-US" sz="1200" dirty="0"/>
              </a:p>
            </p:txBody>
          </p:sp>
        </mc:Choice>
        <mc:Fallback xmlns="">
          <p:sp>
            <p:nvSpPr>
              <p:cNvPr id="110" name="TextBox 109">
                <a:extLst>
                  <a:ext uri="{FF2B5EF4-FFF2-40B4-BE49-F238E27FC236}">
                    <a16:creationId xmlns:a16="http://schemas.microsoft.com/office/drawing/2014/main" id="{A1882EE4-2C07-440D-9C6E-C5825B151DE8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529426" y="1543651"/>
                <a:ext cx="681790" cy="276999"/>
              </a:xfrm>
              <a:prstGeom prst="rect">
                <a:avLst/>
              </a:prstGeom>
              <a:blipFill>
                <a:blip r:embed="rId12"/>
                <a:stretch>
                  <a:fillRect t="-2174" b="-6522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11" name="TextBox 110">
                <a:extLst>
                  <a:ext uri="{FF2B5EF4-FFF2-40B4-BE49-F238E27FC236}">
                    <a16:creationId xmlns:a16="http://schemas.microsoft.com/office/drawing/2014/main" id="{9A2864EB-CC98-48F5-ABC4-040A323F8537}"/>
                  </a:ext>
                </a:extLst>
              </p:cNvPr>
              <p:cNvSpPr txBox="1"/>
              <p:nvPr/>
            </p:nvSpPr>
            <p:spPr>
              <a:xfrm>
                <a:off x="6593198" y="1187487"/>
                <a:ext cx="534313" cy="276999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acc>
                        <m:accPr>
                          <m:chr m:val="⃗"/>
                          <m:ctrlPr>
                            <a:rPr lang="en-US" sz="1200" b="0" i="1" smtClean="0">
                              <a:latin typeface="Cambria Math" panose="02040503050406030204" pitchFamily="18" charset="0"/>
                            </a:rPr>
                          </m:ctrlPr>
                        </m:accPr>
                        <m:e>
                          <m:r>
                            <a:rPr lang="en-US" sz="1200" b="0" i="1" smtClean="0">
                              <a:latin typeface="Cambria Math" panose="02040503050406030204" pitchFamily="18" charset="0"/>
                            </a:rPr>
                            <m:t>𝑟</m:t>
                          </m:r>
                        </m:e>
                      </m:acc>
                      <m:r>
                        <a:rPr lang="en-US" sz="1200" b="0" i="1" smtClean="0">
                          <a:latin typeface="Cambria Math" panose="02040503050406030204" pitchFamily="18" charset="0"/>
                        </a:rPr>
                        <m:t>(</m:t>
                      </m:r>
                      <m:sSub>
                        <m:sSubPr>
                          <m:ctrlPr>
                            <a:rPr lang="en-US" sz="12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1200" b="0" i="1" smtClean="0">
                              <a:latin typeface="Cambria Math" panose="02040503050406030204" pitchFamily="18" charset="0"/>
                            </a:rPr>
                            <m:t>𝑡</m:t>
                          </m:r>
                        </m:e>
                        <m:sub>
                          <m:r>
                            <a:rPr lang="en-US" sz="1200" b="0" i="1" smtClean="0">
                              <a:latin typeface="Cambria Math" panose="02040503050406030204" pitchFamily="18" charset="0"/>
                            </a:rPr>
                            <m:t>𝑖</m:t>
                          </m:r>
                        </m:sub>
                      </m:sSub>
                      <m:r>
                        <a:rPr lang="en-US" sz="1200" b="0" i="1" smtClean="0">
                          <a:latin typeface="Cambria Math" panose="02040503050406030204" pitchFamily="18" charset="0"/>
                        </a:rPr>
                        <m:t>)</m:t>
                      </m:r>
                    </m:oMath>
                  </m:oMathPara>
                </a14:m>
                <a:endParaRPr lang="en-US" sz="1200" dirty="0"/>
              </a:p>
            </p:txBody>
          </p:sp>
        </mc:Choice>
        <mc:Fallback xmlns="">
          <p:sp>
            <p:nvSpPr>
              <p:cNvPr id="111" name="TextBox 110">
                <a:extLst>
                  <a:ext uri="{FF2B5EF4-FFF2-40B4-BE49-F238E27FC236}">
                    <a16:creationId xmlns:a16="http://schemas.microsoft.com/office/drawing/2014/main" id="{9A2864EB-CC98-48F5-ABC4-040A323F853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593198" y="1187487"/>
                <a:ext cx="534313" cy="276999"/>
              </a:xfrm>
              <a:prstGeom prst="rect">
                <a:avLst/>
              </a:prstGeom>
              <a:blipFill>
                <a:blip r:embed="rId13"/>
                <a:stretch>
                  <a:fillRect t="-2222" b="-8889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3128246731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5" name="Straight Arrow Connector 4">
            <a:extLst>
              <a:ext uri="{FF2B5EF4-FFF2-40B4-BE49-F238E27FC236}">
                <a16:creationId xmlns:a16="http://schemas.microsoft.com/office/drawing/2014/main" id="{ED306833-0DE3-43A2-8E6D-4DD57DF8B6C4}"/>
              </a:ext>
            </a:extLst>
          </p:cNvPr>
          <p:cNvCxnSpPr>
            <a:cxnSpLocks/>
          </p:cNvCxnSpPr>
          <p:nvPr/>
        </p:nvCxnSpPr>
        <p:spPr>
          <a:xfrm>
            <a:off x="1475117" y="2424023"/>
            <a:ext cx="2191109" cy="0"/>
          </a:xfrm>
          <a:prstGeom prst="straightConnector1">
            <a:avLst/>
          </a:prstGeom>
          <a:ln w="12700"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8" name="Straight Connector 7">
            <a:extLst>
              <a:ext uri="{FF2B5EF4-FFF2-40B4-BE49-F238E27FC236}">
                <a16:creationId xmlns:a16="http://schemas.microsoft.com/office/drawing/2014/main" id="{DC325EF6-7873-4663-AB04-B7A25BCF817E}"/>
              </a:ext>
            </a:extLst>
          </p:cNvPr>
          <p:cNvCxnSpPr>
            <a:cxnSpLocks/>
          </p:cNvCxnSpPr>
          <p:nvPr/>
        </p:nvCxnSpPr>
        <p:spPr>
          <a:xfrm>
            <a:off x="1871932" y="2355011"/>
            <a:ext cx="0" cy="60386"/>
          </a:xfrm>
          <a:prstGeom prst="line">
            <a:avLst/>
          </a:prstGeom>
          <a:ln w="1270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4" name="Straight Connector 13">
            <a:extLst>
              <a:ext uri="{FF2B5EF4-FFF2-40B4-BE49-F238E27FC236}">
                <a16:creationId xmlns:a16="http://schemas.microsoft.com/office/drawing/2014/main" id="{031BA9B3-F886-4792-857F-91594C97D0B4}"/>
              </a:ext>
            </a:extLst>
          </p:cNvPr>
          <p:cNvCxnSpPr>
            <a:cxnSpLocks/>
          </p:cNvCxnSpPr>
          <p:nvPr/>
        </p:nvCxnSpPr>
        <p:spPr>
          <a:xfrm>
            <a:off x="3286705" y="2329132"/>
            <a:ext cx="0" cy="86264"/>
          </a:xfrm>
          <a:prstGeom prst="line">
            <a:avLst/>
          </a:prstGeom>
          <a:ln w="1270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18" name="TextBox 17">
                <a:extLst>
                  <a:ext uri="{FF2B5EF4-FFF2-40B4-BE49-F238E27FC236}">
                    <a16:creationId xmlns:a16="http://schemas.microsoft.com/office/drawing/2014/main" id="{C525E05E-8B2E-4CBD-80B7-7DF54D2D72FC}"/>
                  </a:ext>
                </a:extLst>
              </p:cNvPr>
              <p:cNvSpPr txBox="1"/>
              <p:nvPr/>
            </p:nvSpPr>
            <p:spPr>
              <a:xfrm>
                <a:off x="1713139" y="2385204"/>
                <a:ext cx="317586" cy="276999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120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𝛼</m:t>
                      </m:r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18" name="TextBox 17">
                <a:extLst>
                  <a:ext uri="{FF2B5EF4-FFF2-40B4-BE49-F238E27FC236}">
                    <a16:creationId xmlns:a16="http://schemas.microsoft.com/office/drawing/2014/main" id="{C525E05E-8B2E-4CBD-80B7-7DF54D2D72F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713139" y="2385204"/>
                <a:ext cx="317586" cy="276999"/>
              </a:xfrm>
              <a:prstGeom prst="rect">
                <a:avLst/>
              </a:prstGeom>
              <a:blipFill>
                <a:blip r:embed="rId2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9" name="TextBox 18">
                <a:extLst>
                  <a:ext uri="{FF2B5EF4-FFF2-40B4-BE49-F238E27FC236}">
                    <a16:creationId xmlns:a16="http://schemas.microsoft.com/office/drawing/2014/main" id="{24BFBB3E-4059-42E6-B3F5-067C4C3B4113}"/>
                  </a:ext>
                </a:extLst>
              </p:cNvPr>
              <p:cNvSpPr txBox="1"/>
              <p:nvPr/>
            </p:nvSpPr>
            <p:spPr>
              <a:xfrm>
                <a:off x="3107763" y="2397839"/>
                <a:ext cx="317586" cy="276999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120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𝛽</m:t>
                      </m:r>
                    </m:oMath>
                  </m:oMathPara>
                </a14:m>
                <a:endParaRPr lang="en-US" sz="1200" dirty="0"/>
              </a:p>
            </p:txBody>
          </p:sp>
        </mc:Choice>
        <mc:Fallback xmlns="">
          <p:sp>
            <p:nvSpPr>
              <p:cNvPr id="19" name="TextBox 18">
                <a:extLst>
                  <a:ext uri="{FF2B5EF4-FFF2-40B4-BE49-F238E27FC236}">
                    <a16:creationId xmlns:a16="http://schemas.microsoft.com/office/drawing/2014/main" id="{24BFBB3E-4059-42E6-B3F5-067C4C3B4113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107763" y="2397839"/>
                <a:ext cx="317586" cy="276999"/>
              </a:xfrm>
              <a:prstGeom prst="rect">
                <a:avLst/>
              </a:prstGeom>
              <a:blipFill>
                <a:blip r:embed="rId3"/>
                <a:stretch>
                  <a:fillRect b="-4348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0" name="TextBox 19">
                <a:extLst>
                  <a:ext uri="{FF2B5EF4-FFF2-40B4-BE49-F238E27FC236}">
                    <a16:creationId xmlns:a16="http://schemas.microsoft.com/office/drawing/2014/main" id="{63339690-FE0F-4310-B6F1-C9443E99543A}"/>
                  </a:ext>
                </a:extLst>
              </p:cNvPr>
              <p:cNvSpPr txBox="1"/>
              <p:nvPr/>
            </p:nvSpPr>
            <p:spPr>
              <a:xfrm>
                <a:off x="3497913" y="2411388"/>
                <a:ext cx="284629" cy="276999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12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𝑡</m:t>
                      </m:r>
                    </m:oMath>
                  </m:oMathPara>
                </a14:m>
                <a:endParaRPr lang="en-US" sz="1200" dirty="0"/>
              </a:p>
            </p:txBody>
          </p:sp>
        </mc:Choice>
        <mc:Fallback xmlns="">
          <p:sp>
            <p:nvSpPr>
              <p:cNvPr id="20" name="TextBox 19">
                <a:extLst>
                  <a:ext uri="{FF2B5EF4-FFF2-40B4-BE49-F238E27FC236}">
                    <a16:creationId xmlns:a16="http://schemas.microsoft.com/office/drawing/2014/main" id="{63339690-FE0F-4310-B6F1-C9443E99543A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497913" y="2411388"/>
                <a:ext cx="284629" cy="276999"/>
              </a:xfrm>
              <a:prstGeom prst="rect">
                <a:avLst/>
              </a:prstGeom>
              <a:blipFill>
                <a:blip r:embed="rId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22" name="Straight Arrow Connector 21">
            <a:extLst>
              <a:ext uri="{FF2B5EF4-FFF2-40B4-BE49-F238E27FC236}">
                <a16:creationId xmlns:a16="http://schemas.microsoft.com/office/drawing/2014/main" id="{3CB38A04-3809-4E87-AFC0-F8EE22B5BB94}"/>
              </a:ext>
            </a:extLst>
          </p:cNvPr>
          <p:cNvCxnSpPr/>
          <p:nvPr/>
        </p:nvCxnSpPr>
        <p:spPr>
          <a:xfrm>
            <a:off x="5607170" y="2553896"/>
            <a:ext cx="1673524" cy="0"/>
          </a:xfrm>
          <a:prstGeom prst="straightConnector1">
            <a:avLst/>
          </a:prstGeom>
          <a:ln w="12700"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3" name="Straight Arrow Connector 22">
            <a:extLst>
              <a:ext uri="{FF2B5EF4-FFF2-40B4-BE49-F238E27FC236}">
                <a16:creationId xmlns:a16="http://schemas.microsoft.com/office/drawing/2014/main" id="{88938710-8E86-41C2-AE98-8CE569591AF9}"/>
              </a:ext>
            </a:extLst>
          </p:cNvPr>
          <p:cNvCxnSpPr>
            <a:cxnSpLocks/>
          </p:cNvCxnSpPr>
          <p:nvPr/>
        </p:nvCxnSpPr>
        <p:spPr>
          <a:xfrm flipV="1">
            <a:off x="5607170" y="974785"/>
            <a:ext cx="0" cy="1579112"/>
          </a:xfrm>
          <a:prstGeom prst="straightConnector1">
            <a:avLst/>
          </a:prstGeom>
          <a:ln w="12700"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7" name="Straight Arrow Connector 26">
            <a:extLst>
              <a:ext uri="{FF2B5EF4-FFF2-40B4-BE49-F238E27FC236}">
                <a16:creationId xmlns:a16="http://schemas.microsoft.com/office/drawing/2014/main" id="{BC08FEE1-656F-4A3D-8B0C-5145BF313F92}"/>
              </a:ext>
            </a:extLst>
          </p:cNvPr>
          <p:cNvCxnSpPr>
            <a:cxnSpLocks/>
          </p:cNvCxnSpPr>
          <p:nvPr/>
        </p:nvCxnSpPr>
        <p:spPr>
          <a:xfrm flipH="1">
            <a:off x="4799162" y="2553420"/>
            <a:ext cx="808008" cy="1069064"/>
          </a:xfrm>
          <a:prstGeom prst="straightConnector1">
            <a:avLst/>
          </a:prstGeom>
          <a:ln w="12700"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9" name="Straight Arrow Connector 28">
            <a:extLst>
              <a:ext uri="{FF2B5EF4-FFF2-40B4-BE49-F238E27FC236}">
                <a16:creationId xmlns:a16="http://schemas.microsoft.com/office/drawing/2014/main" id="{CEB61469-5E4A-4E92-BAD2-F2098E864899}"/>
              </a:ext>
            </a:extLst>
          </p:cNvPr>
          <p:cNvCxnSpPr/>
          <p:nvPr/>
        </p:nvCxnSpPr>
        <p:spPr>
          <a:xfrm>
            <a:off x="5607170" y="2554373"/>
            <a:ext cx="1673524" cy="0"/>
          </a:xfrm>
          <a:prstGeom prst="straightConnector1">
            <a:avLst/>
          </a:prstGeom>
          <a:ln w="12700"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35" name="TextBox 34">
                <a:extLst>
                  <a:ext uri="{FF2B5EF4-FFF2-40B4-BE49-F238E27FC236}">
                    <a16:creationId xmlns:a16="http://schemas.microsoft.com/office/drawing/2014/main" id="{A52FC8A2-521C-4CB7-AEF1-4C1D50578CF2}"/>
                  </a:ext>
                </a:extLst>
              </p:cNvPr>
              <p:cNvSpPr txBox="1"/>
              <p:nvPr/>
            </p:nvSpPr>
            <p:spPr>
              <a:xfrm>
                <a:off x="4799161" y="3513702"/>
                <a:ext cx="306366" cy="276999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12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𝑥</m:t>
                      </m:r>
                    </m:oMath>
                  </m:oMathPara>
                </a14:m>
                <a:endParaRPr lang="en-US" sz="1200" dirty="0"/>
              </a:p>
            </p:txBody>
          </p:sp>
        </mc:Choice>
        <mc:Fallback xmlns="">
          <p:sp>
            <p:nvSpPr>
              <p:cNvPr id="35" name="TextBox 34">
                <a:extLst>
                  <a:ext uri="{FF2B5EF4-FFF2-40B4-BE49-F238E27FC236}">
                    <a16:creationId xmlns:a16="http://schemas.microsoft.com/office/drawing/2014/main" id="{A52FC8A2-521C-4CB7-AEF1-4C1D50578CF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799161" y="3513702"/>
                <a:ext cx="306366" cy="276999"/>
              </a:xfrm>
              <a:prstGeom prst="rect">
                <a:avLst/>
              </a:prstGeom>
              <a:blipFill>
                <a:blip r:embed="rId5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36" name="TextBox 35">
                <a:extLst>
                  <a:ext uri="{FF2B5EF4-FFF2-40B4-BE49-F238E27FC236}">
                    <a16:creationId xmlns:a16="http://schemas.microsoft.com/office/drawing/2014/main" id="{4D6D8DA7-3A1A-495D-B010-B7F83F854DBD}"/>
                  </a:ext>
                </a:extLst>
              </p:cNvPr>
              <p:cNvSpPr txBox="1"/>
              <p:nvPr/>
            </p:nvSpPr>
            <p:spPr>
              <a:xfrm>
                <a:off x="1309499" y="2436659"/>
                <a:ext cx="327910" cy="276999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1200" b="0" i="1" smtClean="0">
                          <a:latin typeface="Cambria Math" panose="02040503050406030204" pitchFamily="18" charset="0"/>
                        </a:rPr>
                        <m:t>𝑂</m:t>
                      </m:r>
                    </m:oMath>
                  </m:oMathPara>
                </a14:m>
                <a:endParaRPr lang="en-US" sz="1200" dirty="0"/>
              </a:p>
            </p:txBody>
          </p:sp>
        </mc:Choice>
        <mc:Fallback xmlns="">
          <p:sp>
            <p:nvSpPr>
              <p:cNvPr id="36" name="TextBox 35">
                <a:extLst>
                  <a:ext uri="{FF2B5EF4-FFF2-40B4-BE49-F238E27FC236}">
                    <a16:creationId xmlns:a16="http://schemas.microsoft.com/office/drawing/2014/main" id="{4D6D8DA7-3A1A-495D-B010-B7F83F854DB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309499" y="2436659"/>
                <a:ext cx="327910" cy="276999"/>
              </a:xfrm>
              <a:prstGeom prst="rect">
                <a:avLst/>
              </a:prstGeom>
              <a:blipFill>
                <a:blip r:embed="rId6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37" name="TextBox 36">
                <a:extLst>
                  <a:ext uri="{FF2B5EF4-FFF2-40B4-BE49-F238E27FC236}">
                    <a16:creationId xmlns:a16="http://schemas.microsoft.com/office/drawing/2014/main" id="{BF1E4C60-3D30-45B9-9342-6B847B008391}"/>
                  </a:ext>
                </a:extLst>
              </p:cNvPr>
              <p:cNvSpPr txBox="1"/>
              <p:nvPr/>
            </p:nvSpPr>
            <p:spPr>
              <a:xfrm>
                <a:off x="5529426" y="2575157"/>
                <a:ext cx="327910" cy="276999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1200" b="0" i="1" smtClean="0">
                          <a:latin typeface="Cambria Math" panose="02040503050406030204" pitchFamily="18" charset="0"/>
                        </a:rPr>
                        <m:t>𝑂</m:t>
                      </m:r>
                    </m:oMath>
                  </m:oMathPara>
                </a14:m>
                <a:endParaRPr lang="en-US" sz="1200" dirty="0"/>
              </a:p>
            </p:txBody>
          </p:sp>
        </mc:Choice>
        <mc:Fallback xmlns="">
          <p:sp>
            <p:nvSpPr>
              <p:cNvPr id="37" name="TextBox 36">
                <a:extLst>
                  <a:ext uri="{FF2B5EF4-FFF2-40B4-BE49-F238E27FC236}">
                    <a16:creationId xmlns:a16="http://schemas.microsoft.com/office/drawing/2014/main" id="{BF1E4C60-3D30-45B9-9342-6B847B00839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529426" y="2575157"/>
                <a:ext cx="327910" cy="276999"/>
              </a:xfrm>
              <a:prstGeom prst="rect">
                <a:avLst/>
              </a:prstGeom>
              <a:blipFill>
                <a:blip r:embed="rId7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38" name="TextBox 37">
                <a:extLst>
                  <a:ext uri="{FF2B5EF4-FFF2-40B4-BE49-F238E27FC236}">
                    <a16:creationId xmlns:a16="http://schemas.microsoft.com/office/drawing/2014/main" id="{1241DAA3-F61A-41A0-905B-B3E501F7BD89}"/>
                  </a:ext>
                </a:extLst>
              </p:cNvPr>
              <p:cNvSpPr txBox="1"/>
              <p:nvPr/>
            </p:nvSpPr>
            <p:spPr>
              <a:xfrm>
                <a:off x="7127511" y="2575158"/>
                <a:ext cx="309123" cy="276999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1200" b="0" i="1" smtClean="0">
                          <a:latin typeface="Cambria Math" panose="02040503050406030204" pitchFamily="18" charset="0"/>
                        </a:rPr>
                        <m:t>𝑦</m:t>
                      </m:r>
                    </m:oMath>
                  </m:oMathPara>
                </a14:m>
                <a:endParaRPr lang="en-US" sz="1200" dirty="0"/>
              </a:p>
            </p:txBody>
          </p:sp>
        </mc:Choice>
        <mc:Fallback xmlns="">
          <p:sp>
            <p:nvSpPr>
              <p:cNvPr id="38" name="TextBox 37">
                <a:extLst>
                  <a:ext uri="{FF2B5EF4-FFF2-40B4-BE49-F238E27FC236}">
                    <a16:creationId xmlns:a16="http://schemas.microsoft.com/office/drawing/2014/main" id="{1241DAA3-F61A-41A0-905B-B3E501F7BD89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127511" y="2575158"/>
                <a:ext cx="309123" cy="276999"/>
              </a:xfrm>
              <a:prstGeom prst="rect">
                <a:avLst/>
              </a:prstGeom>
              <a:blipFill>
                <a:blip r:embed="rId8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39" name="TextBox 38">
                <a:extLst>
                  <a:ext uri="{FF2B5EF4-FFF2-40B4-BE49-F238E27FC236}">
                    <a16:creationId xmlns:a16="http://schemas.microsoft.com/office/drawing/2014/main" id="{EF45C652-8EEC-499C-9ADD-352BFD4FD54F}"/>
                  </a:ext>
                </a:extLst>
              </p:cNvPr>
              <p:cNvSpPr txBox="1"/>
              <p:nvPr/>
            </p:nvSpPr>
            <p:spPr>
              <a:xfrm>
                <a:off x="5607170" y="728458"/>
                <a:ext cx="296299" cy="276999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1200" b="0" i="1" smtClean="0">
                          <a:latin typeface="Cambria Math" panose="02040503050406030204" pitchFamily="18" charset="0"/>
                        </a:rPr>
                        <m:t>𝑧</m:t>
                      </m:r>
                    </m:oMath>
                  </m:oMathPara>
                </a14:m>
                <a:endParaRPr lang="en-US" sz="1200" dirty="0"/>
              </a:p>
            </p:txBody>
          </p:sp>
        </mc:Choice>
        <mc:Fallback xmlns="">
          <p:sp>
            <p:nvSpPr>
              <p:cNvPr id="39" name="TextBox 38">
                <a:extLst>
                  <a:ext uri="{FF2B5EF4-FFF2-40B4-BE49-F238E27FC236}">
                    <a16:creationId xmlns:a16="http://schemas.microsoft.com/office/drawing/2014/main" id="{EF45C652-8EEC-499C-9ADD-352BFD4FD54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607170" y="728458"/>
                <a:ext cx="296299" cy="276999"/>
              </a:xfrm>
              <a:prstGeom prst="rect">
                <a:avLst/>
              </a:prstGeom>
              <a:blipFill>
                <a:blip r:embed="rId9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2" name="Freeform: Shape 41">
            <a:extLst>
              <a:ext uri="{FF2B5EF4-FFF2-40B4-BE49-F238E27FC236}">
                <a16:creationId xmlns:a16="http://schemas.microsoft.com/office/drawing/2014/main" id="{EBCD764E-5D17-4857-AA26-12080E2D3150}"/>
              </a:ext>
            </a:extLst>
          </p:cNvPr>
          <p:cNvSpPr/>
          <p:nvPr/>
        </p:nvSpPr>
        <p:spPr>
          <a:xfrm>
            <a:off x="5883215" y="1440611"/>
            <a:ext cx="1337094" cy="888521"/>
          </a:xfrm>
          <a:custGeom>
            <a:avLst/>
            <a:gdLst>
              <a:gd name="connsiteX0" fmla="*/ 0 w 1337094"/>
              <a:gd name="connsiteY0" fmla="*/ 888521 h 888521"/>
              <a:gd name="connsiteX1" fmla="*/ 276045 w 1337094"/>
              <a:gd name="connsiteY1" fmla="*/ 284672 h 888521"/>
              <a:gd name="connsiteX2" fmla="*/ 776377 w 1337094"/>
              <a:gd name="connsiteY2" fmla="*/ 34506 h 888521"/>
              <a:gd name="connsiteX3" fmla="*/ 1337094 w 1337094"/>
              <a:gd name="connsiteY3" fmla="*/ 0 h 88852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1337094" h="888521">
                <a:moveTo>
                  <a:pt x="0" y="888521"/>
                </a:moveTo>
                <a:cubicBezTo>
                  <a:pt x="73324" y="657764"/>
                  <a:pt x="146649" y="427008"/>
                  <a:pt x="276045" y="284672"/>
                </a:cubicBezTo>
                <a:cubicBezTo>
                  <a:pt x="405441" y="142336"/>
                  <a:pt x="599536" y="81951"/>
                  <a:pt x="776377" y="34506"/>
                </a:cubicBezTo>
                <a:cubicBezTo>
                  <a:pt x="953219" y="-12939"/>
                  <a:pt x="1229264" y="5751"/>
                  <a:pt x="1337094" y="0"/>
                </a:cubicBezTo>
              </a:path>
            </a:pathLst>
          </a:custGeom>
          <a:ln w="1270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55" name="Straight Connector 54">
            <a:extLst>
              <a:ext uri="{FF2B5EF4-FFF2-40B4-BE49-F238E27FC236}">
                <a16:creationId xmlns:a16="http://schemas.microsoft.com/office/drawing/2014/main" id="{29005273-F71B-40CF-BC4D-4EE0BBD61237}"/>
              </a:ext>
            </a:extLst>
          </p:cNvPr>
          <p:cNvCxnSpPr>
            <a:stCxn id="42" idx="1"/>
          </p:cNvCxnSpPr>
          <p:nvPr/>
        </p:nvCxnSpPr>
        <p:spPr>
          <a:xfrm flipH="1" flipV="1">
            <a:off x="6096000" y="1639019"/>
            <a:ext cx="63260" cy="86264"/>
          </a:xfrm>
          <a:prstGeom prst="line">
            <a:avLst/>
          </a:prstGeom>
          <a:ln w="1270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59" name="Straight Connector 58">
            <a:extLst>
              <a:ext uri="{FF2B5EF4-FFF2-40B4-BE49-F238E27FC236}">
                <a16:creationId xmlns:a16="http://schemas.microsoft.com/office/drawing/2014/main" id="{F6FDF9A9-61CE-4B8A-8504-8AE8EFF3C076}"/>
              </a:ext>
            </a:extLst>
          </p:cNvPr>
          <p:cNvCxnSpPr>
            <a:cxnSpLocks/>
            <a:stCxn id="42" idx="2"/>
          </p:cNvCxnSpPr>
          <p:nvPr/>
        </p:nvCxnSpPr>
        <p:spPr>
          <a:xfrm flipH="1" flipV="1">
            <a:off x="6581955" y="1380226"/>
            <a:ext cx="77637" cy="94891"/>
          </a:xfrm>
          <a:prstGeom prst="line">
            <a:avLst/>
          </a:prstGeom>
          <a:ln w="1270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78" name="TextBox 77">
                <a:extLst>
                  <a:ext uri="{FF2B5EF4-FFF2-40B4-BE49-F238E27FC236}">
                    <a16:creationId xmlns:a16="http://schemas.microsoft.com/office/drawing/2014/main" id="{0928CBEE-FAC0-4720-8145-5178F1CAC5C2}"/>
                  </a:ext>
                </a:extLst>
              </p:cNvPr>
              <p:cNvSpPr txBox="1"/>
              <p:nvPr/>
            </p:nvSpPr>
            <p:spPr>
              <a:xfrm>
                <a:off x="2158600" y="2385204"/>
                <a:ext cx="476412" cy="276999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12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1200" b="0" i="1" smtClean="0">
                              <a:latin typeface="Cambria Math" panose="02040503050406030204" pitchFamily="18" charset="0"/>
                            </a:rPr>
                            <m:t>𝑡</m:t>
                          </m:r>
                        </m:e>
                        <m:sub>
                          <m:r>
                            <a:rPr lang="en-US" sz="1200" b="0" i="1" smtClean="0">
                              <a:latin typeface="Cambria Math" panose="02040503050406030204" pitchFamily="18" charset="0"/>
                            </a:rPr>
                            <m:t>𝑖</m:t>
                          </m:r>
                          <m:r>
                            <a:rPr lang="en-US" sz="1200" b="0" i="1" smtClean="0">
                              <a:latin typeface="Cambria Math" panose="02040503050406030204" pitchFamily="18" charset="0"/>
                            </a:rPr>
                            <m:t>−1</m:t>
                          </m:r>
                        </m:sub>
                      </m:sSub>
                    </m:oMath>
                  </m:oMathPara>
                </a14:m>
                <a:endParaRPr lang="en-US" sz="1200" dirty="0"/>
              </a:p>
            </p:txBody>
          </p:sp>
        </mc:Choice>
        <mc:Fallback xmlns="">
          <p:sp>
            <p:nvSpPr>
              <p:cNvPr id="78" name="TextBox 77">
                <a:extLst>
                  <a:ext uri="{FF2B5EF4-FFF2-40B4-BE49-F238E27FC236}">
                    <a16:creationId xmlns:a16="http://schemas.microsoft.com/office/drawing/2014/main" id="{0928CBEE-FAC0-4720-8145-5178F1CAC5C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158600" y="2385204"/>
                <a:ext cx="476412" cy="276999"/>
              </a:xfrm>
              <a:prstGeom prst="rect">
                <a:avLst/>
              </a:prstGeom>
              <a:blipFill>
                <a:blip r:embed="rId10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85" name="TextBox 84">
                <a:extLst>
                  <a:ext uri="{FF2B5EF4-FFF2-40B4-BE49-F238E27FC236}">
                    <a16:creationId xmlns:a16="http://schemas.microsoft.com/office/drawing/2014/main" id="{4FCC15C2-2A37-4540-A573-CDAF80B785D8}"/>
                  </a:ext>
                </a:extLst>
              </p:cNvPr>
              <p:cNvSpPr txBox="1"/>
              <p:nvPr/>
            </p:nvSpPr>
            <p:spPr>
              <a:xfrm>
                <a:off x="2593513" y="2394957"/>
                <a:ext cx="328936" cy="276999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12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1200" b="0" i="1" smtClean="0">
                              <a:latin typeface="Cambria Math" panose="02040503050406030204" pitchFamily="18" charset="0"/>
                            </a:rPr>
                            <m:t>𝑡</m:t>
                          </m:r>
                        </m:e>
                        <m:sub>
                          <m:r>
                            <a:rPr lang="en-US" sz="1200" b="0" i="1" smtClean="0">
                              <a:latin typeface="Cambria Math" panose="02040503050406030204" pitchFamily="18" charset="0"/>
                            </a:rPr>
                            <m:t>𝑖</m:t>
                          </m:r>
                        </m:sub>
                      </m:sSub>
                    </m:oMath>
                  </m:oMathPara>
                </a14:m>
                <a:endParaRPr lang="en-US" sz="1200" dirty="0"/>
              </a:p>
            </p:txBody>
          </p:sp>
        </mc:Choice>
        <mc:Fallback xmlns="">
          <p:sp>
            <p:nvSpPr>
              <p:cNvPr id="85" name="TextBox 84">
                <a:extLst>
                  <a:ext uri="{FF2B5EF4-FFF2-40B4-BE49-F238E27FC236}">
                    <a16:creationId xmlns:a16="http://schemas.microsoft.com/office/drawing/2014/main" id="{4FCC15C2-2A37-4540-A573-CDAF80B785D8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593513" y="2394957"/>
                <a:ext cx="328936" cy="276999"/>
              </a:xfrm>
              <a:prstGeom prst="rect">
                <a:avLst/>
              </a:prstGeom>
              <a:blipFill>
                <a:blip r:embed="rId11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87" name="Straight Arrow Connector 86">
            <a:extLst>
              <a:ext uri="{FF2B5EF4-FFF2-40B4-BE49-F238E27FC236}">
                <a16:creationId xmlns:a16="http://schemas.microsoft.com/office/drawing/2014/main" id="{9649FB1D-7243-4597-8E2C-C2B5286A7E9C}"/>
              </a:ext>
            </a:extLst>
          </p:cNvPr>
          <p:cNvCxnSpPr>
            <a:cxnSpLocks/>
            <a:endCxn id="42" idx="1"/>
          </p:cNvCxnSpPr>
          <p:nvPr/>
        </p:nvCxnSpPr>
        <p:spPr>
          <a:xfrm flipV="1">
            <a:off x="5607169" y="1725283"/>
            <a:ext cx="552091" cy="824604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94" name="Straight Arrow Connector 93">
            <a:extLst>
              <a:ext uri="{FF2B5EF4-FFF2-40B4-BE49-F238E27FC236}">
                <a16:creationId xmlns:a16="http://schemas.microsoft.com/office/drawing/2014/main" id="{C7608BB1-FB29-4083-9980-CBE1E17A76AB}"/>
              </a:ext>
            </a:extLst>
          </p:cNvPr>
          <p:cNvCxnSpPr>
            <a:endCxn id="42" idx="2"/>
          </p:cNvCxnSpPr>
          <p:nvPr/>
        </p:nvCxnSpPr>
        <p:spPr>
          <a:xfrm flipV="1">
            <a:off x="5607169" y="1475117"/>
            <a:ext cx="1052423" cy="107477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96" name="Straight Arrow Connector 95">
            <a:extLst>
              <a:ext uri="{FF2B5EF4-FFF2-40B4-BE49-F238E27FC236}">
                <a16:creationId xmlns:a16="http://schemas.microsoft.com/office/drawing/2014/main" id="{56DE5AB7-B3A3-497E-9284-1AE20AEF9C0C}"/>
              </a:ext>
            </a:extLst>
          </p:cNvPr>
          <p:cNvCxnSpPr>
            <a:stCxn id="42" idx="1"/>
            <a:endCxn id="42" idx="2"/>
          </p:cNvCxnSpPr>
          <p:nvPr/>
        </p:nvCxnSpPr>
        <p:spPr>
          <a:xfrm flipV="1">
            <a:off x="6159260" y="1475117"/>
            <a:ext cx="500332" cy="250166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3" name="Straight Connector 102">
            <a:extLst>
              <a:ext uri="{FF2B5EF4-FFF2-40B4-BE49-F238E27FC236}">
                <a16:creationId xmlns:a16="http://schemas.microsoft.com/office/drawing/2014/main" id="{F633FC40-46F6-4BFE-88BC-A3E84F709448}"/>
              </a:ext>
            </a:extLst>
          </p:cNvPr>
          <p:cNvCxnSpPr>
            <a:cxnSpLocks/>
          </p:cNvCxnSpPr>
          <p:nvPr/>
        </p:nvCxnSpPr>
        <p:spPr>
          <a:xfrm>
            <a:off x="2295065" y="2424023"/>
            <a:ext cx="445662" cy="0"/>
          </a:xfrm>
          <a:prstGeom prst="line">
            <a:avLst/>
          </a:pr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110" name="TextBox 109">
                <a:extLst>
                  <a:ext uri="{FF2B5EF4-FFF2-40B4-BE49-F238E27FC236}">
                    <a16:creationId xmlns:a16="http://schemas.microsoft.com/office/drawing/2014/main" id="{A1882EE4-2C07-440D-9C6E-C5825B151DE8}"/>
                  </a:ext>
                </a:extLst>
              </p:cNvPr>
              <p:cNvSpPr txBox="1"/>
              <p:nvPr/>
            </p:nvSpPr>
            <p:spPr>
              <a:xfrm>
                <a:off x="5516441" y="1527830"/>
                <a:ext cx="681790" cy="276999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acc>
                        <m:accPr>
                          <m:chr m:val="⃗"/>
                          <m:ctrlPr>
                            <a:rPr lang="en-US" sz="1200" b="0" i="1" smtClean="0">
                              <a:latin typeface="Cambria Math" panose="02040503050406030204" pitchFamily="18" charset="0"/>
                            </a:rPr>
                          </m:ctrlPr>
                        </m:accPr>
                        <m:e>
                          <m:r>
                            <a:rPr lang="en-US" sz="1200" b="0" i="1" smtClean="0">
                              <a:latin typeface="Cambria Math" panose="02040503050406030204" pitchFamily="18" charset="0"/>
                            </a:rPr>
                            <m:t>𝑟</m:t>
                          </m:r>
                        </m:e>
                      </m:acc>
                      <m:r>
                        <a:rPr lang="en-US" sz="1200" b="0" i="1" smtClean="0">
                          <a:latin typeface="Cambria Math" panose="02040503050406030204" pitchFamily="18" charset="0"/>
                        </a:rPr>
                        <m:t>(</m:t>
                      </m:r>
                      <m:sSub>
                        <m:sSubPr>
                          <m:ctrlPr>
                            <a:rPr lang="en-US" sz="12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1200" b="0" i="1" smtClean="0">
                              <a:latin typeface="Cambria Math" panose="02040503050406030204" pitchFamily="18" charset="0"/>
                            </a:rPr>
                            <m:t>𝑡</m:t>
                          </m:r>
                        </m:e>
                        <m:sub>
                          <m:r>
                            <a:rPr lang="en-US" sz="1200" b="0" i="1" smtClean="0">
                              <a:latin typeface="Cambria Math" panose="02040503050406030204" pitchFamily="18" charset="0"/>
                            </a:rPr>
                            <m:t>𝑖</m:t>
                          </m:r>
                          <m:r>
                            <a:rPr lang="en-US" sz="1200" b="0" i="1" smtClean="0">
                              <a:latin typeface="Cambria Math" panose="02040503050406030204" pitchFamily="18" charset="0"/>
                            </a:rPr>
                            <m:t>−1</m:t>
                          </m:r>
                        </m:sub>
                      </m:sSub>
                      <m:r>
                        <a:rPr lang="en-US" sz="1200" b="0" i="1" smtClean="0">
                          <a:latin typeface="Cambria Math" panose="02040503050406030204" pitchFamily="18" charset="0"/>
                        </a:rPr>
                        <m:t>)</m:t>
                      </m:r>
                    </m:oMath>
                  </m:oMathPara>
                </a14:m>
                <a:endParaRPr lang="en-US" sz="1200" dirty="0"/>
              </a:p>
            </p:txBody>
          </p:sp>
        </mc:Choice>
        <mc:Fallback xmlns="">
          <p:sp>
            <p:nvSpPr>
              <p:cNvPr id="110" name="TextBox 109">
                <a:extLst>
                  <a:ext uri="{FF2B5EF4-FFF2-40B4-BE49-F238E27FC236}">
                    <a16:creationId xmlns:a16="http://schemas.microsoft.com/office/drawing/2014/main" id="{A1882EE4-2C07-440D-9C6E-C5825B151DE8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516441" y="1527830"/>
                <a:ext cx="681790" cy="276999"/>
              </a:xfrm>
              <a:prstGeom prst="rect">
                <a:avLst/>
              </a:prstGeom>
              <a:blipFill>
                <a:blip r:embed="rId12"/>
                <a:stretch>
                  <a:fillRect t="-2222" b="-8889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11" name="TextBox 110">
                <a:extLst>
                  <a:ext uri="{FF2B5EF4-FFF2-40B4-BE49-F238E27FC236}">
                    <a16:creationId xmlns:a16="http://schemas.microsoft.com/office/drawing/2014/main" id="{9A2864EB-CC98-48F5-ABC4-040A323F8537}"/>
                  </a:ext>
                </a:extLst>
              </p:cNvPr>
              <p:cNvSpPr txBox="1"/>
              <p:nvPr/>
            </p:nvSpPr>
            <p:spPr>
              <a:xfrm>
                <a:off x="6593198" y="1187487"/>
                <a:ext cx="534313" cy="276999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acc>
                        <m:accPr>
                          <m:chr m:val="⃗"/>
                          <m:ctrlPr>
                            <a:rPr lang="en-US" sz="1200" b="0" i="1" smtClean="0">
                              <a:latin typeface="Cambria Math" panose="02040503050406030204" pitchFamily="18" charset="0"/>
                            </a:rPr>
                          </m:ctrlPr>
                        </m:accPr>
                        <m:e>
                          <m:r>
                            <a:rPr lang="en-US" sz="1200" b="0" i="1" smtClean="0">
                              <a:latin typeface="Cambria Math" panose="02040503050406030204" pitchFamily="18" charset="0"/>
                            </a:rPr>
                            <m:t>𝑟</m:t>
                          </m:r>
                        </m:e>
                      </m:acc>
                      <m:r>
                        <a:rPr lang="en-US" sz="1200" b="0" i="1" smtClean="0">
                          <a:latin typeface="Cambria Math" panose="02040503050406030204" pitchFamily="18" charset="0"/>
                        </a:rPr>
                        <m:t>(</m:t>
                      </m:r>
                      <m:sSub>
                        <m:sSubPr>
                          <m:ctrlPr>
                            <a:rPr lang="en-US" sz="12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1200" b="0" i="1" smtClean="0">
                              <a:latin typeface="Cambria Math" panose="02040503050406030204" pitchFamily="18" charset="0"/>
                            </a:rPr>
                            <m:t>𝑡</m:t>
                          </m:r>
                        </m:e>
                        <m:sub>
                          <m:r>
                            <a:rPr lang="en-US" sz="1200" b="0" i="1" smtClean="0">
                              <a:latin typeface="Cambria Math" panose="02040503050406030204" pitchFamily="18" charset="0"/>
                            </a:rPr>
                            <m:t>𝑖</m:t>
                          </m:r>
                        </m:sub>
                      </m:sSub>
                      <m:r>
                        <a:rPr lang="en-US" sz="1200" b="0" i="1" smtClean="0">
                          <a:latin typeface="Cambria Math" panose="02040503050406030204" pitchFamily="18" charset="0"/>
                        </a:rPr>
                        <m:t>)</m:t>
                      </m:r>
                    </m:oMath>
                  </m:oMathPara>
                </a14:m>
                <a:endParaRPr lang="en-US" sz="1200" dirty="0"/>
              </a:p>
            </p:txBody>
          </p:sp>
        </mc:Choice>
        <mc:Fallback xmlns="">
          <p:sp>
            <p:nvSpPr>
              <p:cNvPr id="111" name="TextBox 110">
                <a:extLst>
                  <a:ext uri="{FF2B5EF4-FFF2-40B4-BE49-F238E27FC236}">
                    <a16:creationId xmlns:a16="http://schemas.microsoft.com/office/drawing/2014/main" id="{9A2864EB-CC98-48F5-ABC4-040A323F853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593198" y="1187487"/>
                <a:ext cx="534313" cy="276999"/>
              </a:xfrm>
              <a:prstGeom prst="rect">
                <a:avLst/>
              </a:prstGeom>
              <a:blipFill>
                <a:blip r:embed="rId13"/>
                <a:stretch>
                  <a:fillRect t="-2222" b="-8889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115" name="Straight Arrow Connector 114">
            <a:extLst>
              <a:ext uri="{FF2B5EF4-FFF2-40B4-BE49-F238E27FC236}">
                <a16:creationId xmlns:a16="http://schemas.microsoft.com/office/drawing/2014/main" id="{180D326B-86CE-4649-86BF-F934BE708CD5}"/>
              </a:ext>
            </a:extLst>
          </p:cNvPr>
          <p:cNvCxnSpPr>
            <a:stCxn id="42" idx="1"/>
          </p:cNvCxnSpPr>
          <p:nvPr/>
        </p:nvCxnSpPr>
        <p:spPr>
          <a:xfrm flipV="1">
            <a:off x="6159260" y="1187487"/>
            <a:ext cx="146651" cy="537796"/>
          </a:xfrm>
          <a:prstGeom prst="straightConnector1">
            <a:avLst/>
          </a:prstGeom>
          <a:ln w="12700">
            <a:tailEnd type="triangle"/>
          </a:ln>
        </p:spPr>
        <p:style>
          <a:lnRef idx="1">
            <a:schemeClr val="accent2"/>
          </a:lnRef>
          <a:fillRef idx="0">
            <a:schemeClr val="accent2"/>
          </a:fillRef>
          <a:effectRef idx="0">
            <a:schemeClr val="accent2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116" name="TextBox 115">
                <a:extLst>
                  <a:ext uri="{FF2B5EF4-FFF2-40B4-BE49-F238E27FC236}">
                    <a16:creationId xmlns:a16="http://schemas.microsoft.com/office/drawing/2014/main" id="{55D11B6E-A2CF-47BE-94BF-D9B213603C2B}"/>
                  </a:ext>
                </a:extLst>
              </p:cNvPr>
              <p:cNvSpPr txBox="1"/>
              <p:nvPr/>
            </p:nvSpPr>
            <p:spPr>
              <a:xfrm>
                <a:off x="6024209" y="866957"/>
                <a:ext cx="348044" cy="299441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acc>
                        <m:accPr>
                          <m:chr m:val="⃗"/>
                          <m:ctrlPr>
                            <a:rPr lang="en-US" sz="1200" b="0" i="1" smtClean="0">
                              <a:latin typeface="Cambria Math" panose="02040503050406030204" pitchFamily="18" charset="0"/>
                            </a:rPr>
                          </m:ctrlPr>
                        </m:accPr>
                        <m:e>
                          <m:sSub>
                            <m:sSubPr>
                              <m:ctrlPr>
                                <a:rPr lang="en-US" sz="1200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1200" b="0" i="1" smtClean="0">
                                  <a:latin typeface="Cambria Math" panose="02040503050406030204" pitchFamily="18" charset="0"/>
                                </a:rPr>
                                <m:t>𝐹</m:t>
                              </m:r>
                            </m:e>
                            <m:sub>
                              <m:r>
                                <a:rPr lang="en-US" sz="1200" b="0" i="1" smtClean="0"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</m:sub>
                          </m:sSub>
                        </m:e>
                      </m:acc>
                    </m:oMath>
                  </m:oMathPara>
                </a14:m>
                <a:endParaRPr lang="en-US" sz="1200" dirty="0"/>
              </a:p>
            </p:txBody>
          </p:sp>
        </mc:Choice>
        <mc:Fallback xmlns="">
          <p:sp>
            <p:nvSpPr>
              <p:cNvPr id="116" name="TextBox 115">
                <a:extLst>
                  <a:ext uri="{FF2B5EF4-FFF2-40B4-BE49-F238E27FC236}">
                    <a16:creationId xmlns:a16="http://schemas.microsoft.com/office/drawing/2014/main" id="{55D11B6E-A2CF-47BE-94BF-D9B213603C2B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024209" y="866957"/>
                <a:ext cx="348044" cy="299441"/>
              </a:xfrm>
              <a:prstGeom prst="rect">
                <a:avLst/>
              </a:prstGeom>
              <a:blipFill>
                <a:blip r:embed="rId1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1215280039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714C3F25-E1E7-476E-85BB-60F3AC1A192C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875281" y="1742536"/>
            <a:ext cx="6217843" cy="2484451"/>
          </a:xfrm>
          <a:prstGeom prst="rect">
            <a:avLst/>
          </a:prstGeom>
        </p:spPr>
      </p:pic>
      <p:cxnSp>
        <p:nvCxnSpPr>
          <p:cNvPr id="7" name="Straight Arrow Connector 6">
            <a:extLst>
              <a:ext uri="{FF2B5EF4-FFF2-40B4-BE49-F238E27FC236}">
                <a16:creationId xmlns:a16="http://schemas.microsoft.com/office/drawing/2014/main" id="{5DB10876-535E-4498-A071-F556B4AC56B6}"/>
              </a:ext>
            </a:extLst>
          </p:cNvPr>
          <p:cNvCxnSpPr>
            <a:cxnSpLocks/>
          </p:cNvCxnSpPr>
          <p:nvPr/>
        </p:nvCxnSpPr>
        <p:spPr>
          <a:xfrm flipH="1" flipV="1">
            <a:off x="6057900" y="1854679"/>
            <a:ext cx="282516" cy="802258"/>
          </a:xfrm>
          <a:prstGeom prst="straightConnector1">
            <a:avLst/>
          </a:prstGeom>
          <a:ln w="28575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8" name="TextBox 7">
                <a:extLst>
                  <a:ext uri="{FF2B5EF4-FFF2-40B4-BE49-F238E27FC236}">
                    <a16:creationId xmlns:a16="http://schemas.microsoft.com/office/drawing/2014/main" id="{4498AA22-5107-4957-A569-F5A2F83FE1D9}"/>
                  </a:ext>
                </a:extLst>
              </p:cNvPr>
              <p:cNvSpPr txBox="1"/>
              <p:nvPr/>
            </p:nvSpPr>
            <p:spPr>
              <a:xfrm>
                <a:off x="5695591" y="1675432"/>
                <a:ext cx="474453" cy="3693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acc>
                        <m:accPr>
                          <m:chr m:val="⃗"/>
                          <m:ctrlPr>
                            <a:rPr lang="en-US" i="1" smtClean="0">
                              <a:latin typeface="Cambria Math" panose="02040503050406030204" pitchFamily="18" charset="0"/>
                            </a:rPr>
                          </m:ctrlPr>
                        </m:acc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𝑛</m:t>
                          </m:r>
                        </m:e>
                      </m:acc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8" name="TextBox 7">
                <a:extLst>
                  <a:ext uri="{FF2B5EF4-FFF2-40B4-BE49-F238E27FC236}">
                    <a16:creationId xmlns:a16="http://schemas.microsoft.com/office/drawing/2014/main" id="{4498AA22-5107-4957-A569-F5A2F83FE1D9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695591" y="1675432"/>
                <a:ext cx="474453" cy="369332"/>
              </a:xfrm>
              <a:prstGeom prst="rect">
                <a:avLst/>
              </a:prstGeom>
              <a:blipFill>
                <a:blip r:embed="rId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10" name="Straight Arrow Connector 9">
            <a:extLst>
              <a:ext uri="{FF2B5EF4-FFF2-40B4-BE49-F238E27FC236}">
                <a16:creationId xmlns:a16="http://schemas.microsoft.com/office/drawing/2014/main" id="{E3C99E67-98DB-48DA-B2E8-C34FB79C3EDD}"/>
              </a:ext>
            </a:extLst>
          </p:cNvPr>
          <p:cNvCxnSpPr>
            <a:cxnSpLocks/>
          </p:cNvCxnSpPr>
          <p:nvPr/>
        </p:nvCxnSpPr>
        <p:spPr>
          <a:xfrm flipV="1">
            <a:off x="6340415" y="2044764"/>
            <a:ext cx="362310" cy="612172"/>
          </a:xfrm>
          <a:prstGeom prst="straightConnector1">
            <a:avLst/>
          </a:prstGeom>
          <a:ln w="28575">
            <a:tailEnd type="triangle"/>
          </a:ln>
        </p:spPr>
        <p:style>
          <a:lnRef idx="1">
            <a:schemeClr val="accent2"/>
          </a:lnRef>
          <a:fillRef idx="0">
            <a:schemeClr val="accent2"/>
          </a:fillRef>
          <a:effectRef idx="0">
            <a:schemeClr val="accent2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13" name="TextBox 12">
                <a:extLst>
                  <a:ext uri="{FF2B5EF4-FFF2-40B4-BE49-F238E27FC236}">
                    <a16:creationId xmlns:a16="http://schemas.microsoft.com/office/drawing/2014/main" id="{16C1E865-8111-40A6-8B44-2CA6F588EC1F}"/>
                  </a:ext>
                </a:extLst>
              </p:cNvPr>
              <p:cNvSpPr txBox="1"/>
              <p:nvPr/>
            </p:nvSpPr>
            <p:spPr>
              <a:xfrm>
                <a:off x="6657130" y="1854679"/>
                <a:ext cx="474453" cy="3693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acc>
                        <m:accPr>
                          <m:chr m:val="⃗"/>
                          <m:ctrlPr>
                            <a:rPr lang="en-US" i="1" smtClean="0">
                              <a:latin typeface="Cambria Math" panose="02040503050406030204" pitchFamily="18" charset="0"/>
                            </a:rPr>
                          </m:ctrlPr>
                        </m:acc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𝑣</m:t>
                          </m:r>
                        </m:e>
                      </m:acc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13" name="TextBox 12">
                <a:extLst>
                  <a:ext uri="{FF2B5EF4-FFF2-40B4-BE49-F238E27FC236}">
                    <a16:creationId xmlns:a16="http://schemas.microsoft.com/office/drawing/2014/main" id="{16C1E865-8111-40A6-8B44-2CA6F588EC1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657130" y="1854679"/>
                <a:ext cx="474453" cy="369332"/>
              </a:xfrm>
              <a:prstGeom prst="rect">
                <a:avLst/>
              </a:prstGeom>
              <a:blipFill>
                <a:blip r:embed="rId4"/>
                <a:stretch>
                  <a:fillRect t="-22951" r="-33333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297879187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714C3F25-E1E7-476E-85BB-60F3AC1A192C}"/>
              </a:ext>
            </a:extLst>
          </p:cNvPr>
          <p:cNvPicPr>
            <a:picLocks noChangeAspect="1"/>
          </p:cNvPicPr>
          <p:nvPr/>
        </p:nvPicPr>
        <p:blipFill rotWithShape="1">
          <a:blip r:embed="rId2">
            <a:extLst>
              <a:ext uri="{BEBA8EAE-BF5A-486C-A8C5-ECC9F3942E4B}">
                <a14:imgProps xmlns:a14="http://schemas.microsoft.com/office/drawing/2010/main">
                  <a14:imgLayer r:embed="rId3">
                    <a14:imgEffect>
                      <a14:backgroundRemoval t="3784" b="97838" l="1512" r="35853">
                        <a14:foregroundMark x1="5832" y1="3784" x2="216" y2="29730"/>
                        <a14:foregroundMark x1="216" y1="29730" x2="1296" y2="91892"/>
                        <a14:foregroundMark x1="1296" y1="91892" x2="27862" y2="97297"/>
                        <a14:foregroundMark x1="27862" y1="97297" x2="36285" y2="96216"/>
                        <a14:foregroundMark x1="31510" y1="52552" x2="31400" y2="51548"/>
                        <a14:foregroundMark x1="36285" y1="96216" x2="32115" y2="58086"/>
                        <a14:foregroundMark x1="29589" y1="41556" x2="24838" y2="27027"/>
                        <a14:foregroundMark x1="24838" y1="27027" x2="5832" y2="5405"/>
                        <a14:foregroundMark x1="5184" y1="8108" x2="5832" y2="71351"/>
                        <a14:foregroundMark x1="5832" y1="71351" x2="1728" y2="94054"/>
                        <a14:foregroundMark x1="1728" y1="94054" x2="17063" y2="95676"/>
                        <a14:foregroundMark x1="17063" y1="95676" x2="30022" y2="92973"/>
                        <a14:foregroundMark x1="30022" y1="92973" x2="16847" y2="61622"/>
                        <a14:foregroundMark x1="16847" y1="61622" x2="20734" y2="44324"/>
                        <a14:foregroundMark x1="20734" y1="44324" x2="14039" y2="65946"/>
                        <a14:foregroundMark x1="14039" y1="65946" x2="21814" y2="51351"/>
                        <a14:foregroundMark x1="21814" y1="51351" x2="11879" y2="38919"/>
                        <a14:foregroundMark x1="11879" y1="38919" x2="22246" y2="48649"/>
                        <a14:foregroundMark x1="22246" y1="48649" x2="22030" y2="68649"/>
                        <a14:foregroundMark x1="22030" y1="68649" x2="14039" y2="63243"/>
                        <a14:foregroundMark x1="14039" y1="63243" x2="12527" y2="68649"/>
                        <a14:foregroundMark x1="24190" y1="46486" x2="16415" y2="40541"/>
                        <a14:foregroundMark x1="16415" y1="40541" x2="10583" y2="59459"/>
                        <a14:foregroundMark x1="10583" y1="59459" x2="4968" y2="5405"/>
                        <a14:foregroundMark x1="4968" y1="5405" x2="1728" y2="76757"/>
                        <a14:foregroundMark x1="1728" y1="76757" x2="3240" y2="97838"/>
                        <a14:foregroundMark x1="3240" y1="97838" x2="4536" y2="41081"/>
                        <a14:foregroundMark x1="4536" y1="41081" x2="19222" y2="55676"/>
                        <a14:foregroundMark x1="19222" y1="55676" x2="26998" y2="72973"/>
                        <a14:foregroundMark x1="26998" y1="72973" x2="26998" y2="72973"/>
                        <a14:foregroundMark x1="24190" y1="52432" x2="25702" y2="55676"/>
                        <a14:foregroundMark x1="23758" y1="38919" x2="20734" y2="40541"/>
                        <a14:foregroundMark x1="23758" y1="36216" x2="16199" y2="41081"/>
                        <a14:foregroundMark x1="16199" y1="41081" x2="15983" y2="41622"/>
                        <a14:foregroundMark x1="18359" y1="34595" x2="15119" y2="38378"/>
                        <a14:foregroundMark x1="5616" y1="6486" x2="3240" y2="7027"/>
                        <a14:foregroundMark x1="4752" y1="3784" x2="3456" y2="4324"/>
                        <a14:foregroundMark x1="1512" y1="88108" x2="1728" y2="96757"/>
                        <a14:backgroundMark x1="37365" y1="44324" x2="32181" y2="51351"/>
                        <a14:backgroundMark x1="31533" y1="52432" x2="36501" y2="44865"/>
                        <a14:backgroundMark x1="36933" y1="44324" x2="31749" y2="52432"/>
                        <a14:backgroundMark x1="35421" y1="44324" x2="31102" y2="50811"/>
                      </a14:backgroundRemoval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rcRect r="59127"/>
          <a:stretch/>
        </p:blipFill>
        <p:spPr>
          <a:xfrm>
            <a:off x="5014600" y="3429000"/>
            <a:ext cx="2541444" cy="2484451"/>
          </a:xfrm>
          <a:prstGeom prst="rect">
            <a:avLst/>
          </a:prstGeom>
        </p:spPr>
      </p:pic>
      <p:cxnSp>
        <p:nvCxnSpPr>
          <p:cNvPr id="9" name="Straight Arrow Connector 8">
            <a:extLst>
              <a:ext uri="{FF2B5EF4-FFF2-40B4-BE49-F238E27FC236}">
                <a16:creationId xmlns:a16="http://schemas.microsoft.com/office/drawing/2014/main" id="{6BD0C914-804A-4A96-BCD8-66B561DB89F3}"/>
              </a:ext>
            </a:extLst>
          </p:cNvPr>
          <p:cNvCxnSpPr>
            <a:cxnSpLocks/>
          </p:cNvCxnSpPr>
          <p:nvPr/>
        </p:nvCxnSpPr>
        <p:spPr>
          <a:xfrm>
            <a:off x="5180218" y="1280501"/>
            <a:ext cx="2191109" cy="0"/>
          </a:xfrm>
          <a:prstGeom prst="straightConnector1">
            <a:avLst/>
          </a:prstGeom>
          <a:ln w="12700"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1" name="Straight Connector 10">
            <a:extLst>
              <a:ext uri="{FF2B5EF4-FFF2-40B4-BE49-F238E27FC236}">
                <a16:creationId xmlns:a16="http://schemas.microsoft.com/office/drawing/2014/main" id="{0EFC982B-3E8B-4673-B421-824C6F4BC788}"/>
              </a:ext>
            </a:extLst>
          </p:cNvPr>
          <p:cNvCxnSpPr>
            <a:cxnSpLocks/>
          </p:cNvCxnSpPr>
          <p:nvPr/>
        </p:nvCxnSpPr>
        <p:spPr>
          <a:xfrm>
            <a:off x="5577033" y="1211489"/>
            <a:ext cx="0" cy="60386"/>
          </a:xfrm>
          <a:prstGeom prst="line">
            <a:avLst/>
          </a:prstGeom>
          <a:ln w="1270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2" name="Straight Connector 11">
            <a:extLst>
              <a:ext uri="{FF2B5EF4-FFF2-40B4-BE49-F238E27FC236}">
                <a16:creationId xmlns:a16="http://schemas.microsoft.com/office/drawing/2014/main" id="{72E7B4C0-BFA5-4988-BC42-91945C29E028}"/>
              </a:ext>
            </a:extLst>
          </p:cNvPr>
          <p:cNvCxnSpPr>
            <a:cxnSpLocks/>
          </p:cNvCxnSpPr>
          <p:nvPr/>
        </p:nvCxnSpPr>
        <p:spPr>
          <a:xfrm>
            <a:off x="6991806" y="1185610"/>
            <a:ext cx="0" cy="86264"/>
          </a:xfrm>
          <a:prstGeom prst="line">
            <a:avLst/>
          </a:prstGeom>
          <a:ln w="1270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mc:AlternateContent xmlns:mc="http://schemas.openxmlformats.org/markup-compatibility/2006">
        <mc:Choice xmlns:a14="http://schemas.microsoft.com/office/drawing/2010/main" Requires="a14">
          <p:sp>
            <p:nvSpPr>
              <p:cNvPr id="14" name="TextBox 13">
                <a:extLst>
                  <a:ext uri="{FF2B5EF4-FFF2-40B4-BE49-F238E27FC236}">
                    <a16:creationId xmlns:a16="http://schemas.microsoft.com/office/drawing/2014/main" id="{D6B508D8-1D67-47F8-B697-507EF3EB4533}"/>
                  </a:ext>
                </a:extLst>
              </p:cNvPr>
              <p:cNvSpPr txBox="1"/>
              <p:nvPr/>
            </p:nvSpPr>
            <p:spPr>
              <a:xfrm>
                <a:off x="5418240" y="1241682"/>
                <a:ext cx="317586" cy="276999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120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𝛼</m:t>
                      </m:r>
                    </m:oMath>
                  </m:oMathPara>
                </a14:m>
                <a:endParaRPr lang="en-US" dirty="0"/>
              </a:p>
            </p:txBody>
          </p:sp>
        </mc:Choice>
        <mc:Fallback>
          <p:sp>
            <p:nvSpPr>
              <p:cNvPr id="14" name="TextBox 13">
                <a:extLst>
                  <a:ext uri="{FF2B5EF4-FFF2-40B4-BE49-F238E27FC236}">
                    <a16:creationId xmlns:a16="http://schemas.microsoft.com/office/drawing/2014/main" id="{D6B508D8-1D67-47F8-B697-507EF3EB4533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418240" y="1241682"/>
                <a:ext cx="317586" cy="276999"/>
              </a:xfrm>
              <a:prstGeom prst="rect">
                <a:avLst/>
              </a:prstGeom>
              <a:blipFill>
                <a:blip r:embed="rId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15" name="TextBox 14">
                <a:extLst>
                  <a:ext uri="{FF2B5EF4-FFF2-40B4-BE49-F238E27FC236}">
                    <a16:creationId xmlns:a16="http://schemas.microsoft.com/office/drawing/2014/main" id="{82DC1576-0BED-465A-9F3F-B3D56F0C0170}"/>
                  </a:ext>
                </a:extLst>
              </p:cNvPr>
              <p:cNvSpPr txBox="1"/>
              <p:nvPr/>
            </p:nvSpPr>
            <p:spPr>
              <a:xfrm>
                <a:off x="6812864" y="1254317"/>
                <a:ext cx="317586" cy="276999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120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𝛽</m:t>
                      </m:r>
                    </m:oMath>
                  </m:oMathPara>
                </a14:m>
                <a:endParaRPr lang="en-US" sz="1200" dirty="0"/>
              </a:p>
            </p:txBody>
          </p:sp>
        </mc:Choice>
        <mc:Fallback>
          <p:sp>
            <p:nvSpPr>
              <p:cNvPr id="15" name="TextBox 14">
                <a:extLst>
                  <a:ext uri="{FF2B5EF4-FFF2-40B4-BE49-F238E27FC236}">
                    <a16:creationId xmlns:a16="http://schemas.microsoft.com/office/drawing/2014/main" id="{82DC1576-0BED-465A-9F3F-B3D56F0C017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812864" y="1254317"/>
                <a:ext cx="317586" cy="276999"/>
              </a:xfrm>
              <a:prstGeom prst="rect">
                <a:avLst/>
              </a:prstGeom>
              <a:blipFill>
                <a:blip r:embed="rId5"/>
                <a:stretch>
                  <a:fillRect b="-4444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16" name="TextBox 15">
                <a:extLst>
                  <a:ext uri="{FF2B5EF4-FFF2-40B4-BE49-F238E27FC236}">
                    <a16:creationId xmlns:a16="http://schemas.microsoft.com/office/drawing/2014/main" id="{A5ADC2BA-BDC0-406E-98AD-D5C444984A7C}"/>
                  </a:ext>
                </a:extLst>
              </p:cNvPr>
              <p:cNvSpPr txBox="1"/>
              <p:nvPr/>
            </p:nvSpPr>
            <p:spPr>
              <a:xfrm>
                <a:off x="7203014" y="1267866"/>
                <a:ext cx="284629" cy="276999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12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𝑡</m:t>
                      </m:r>
                    </m:oMath>
                  </m:oMathPara>
                </a14:m>
                <a:endParaRPr lang="en-US" sz="1200" dirty="0"/>
              </a:p>
            </p:txBody>
          </p:sp>
        </mc:Choice>
        <mc:Fallback>
          <p:sp>
            <p:nvSpPr>
              <p:cNvPr id="16" name="TextBox 15">
                <a:extLst>
                  <a:ext uri="{FF2B5EF4-FFF2-40B4-BE49-F238E27FC236}">
                    <a16:creationId xmlns:a16="http://schemas.microsoft.com/office/drawing/2014/main" id="{A5ADC2BA-BDC0-406E-98AD-D5C444984A7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203014" y="1267866"/>
                <a:ext cx="284629" cy="276999"/>
              </a:xfrm>
              <a:prstGeom prst="rect">
                <a:avLst/>
              </a:prstGeom>
              <a:blipFill>
                <a:blip r:embed="rId6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17" name="TextBox 16">
                <a:extLst>
                  <a:ext uri="{FF2B5EF4-FFF2-40B4-BE49-F238E27FC236}">
                    <a16:creationId xmlns:a16="http://schemas.microsoft.com/office/drawing/2014/main" id="{DFDE76E6-0352-4245-8C07-1C7292ABEBAD}"/>
                  </a:ext>
                </a:extLst>
              </p:cNvPr>
              <p:cNvSpPr txBox="1"/>
              <p:nvPr/>
            </p:nvSpPr>
            <p:spPr>
              <a:xfrm>
                <a:off x="5014600" y="1293137"/>
                <a:ext cx="327910" cy="276999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1200" b="0" i="1" smtClean="0">
                          <a:latin typeface="Cambria Math" panose="02040503050406030204" pitchFamily="18" charset="0"/>
                        </a:rPr>
                        <m:t>𝑂</m:t>
                      </m:r>
                    </m:oMath>
                  </m:oMathPara>
                </a14:m>
                <a:endParaRPr lang="en-US" sz="1200" dirty="0"/>
              </a:p>
            </p:txBody>
          </p:sp>
        </mc:Choice>
        <mc:Fallback>
          <p:sp>
            <p:nvSpPr>
              <p:cNvPr id="17" name="TextBox 16">
                <a:extLst>
                  <a:ext uri="{FF2B5EF4-FFF2-40B4-BE49-F238E27FC236}">
                    <a16:creationId xmlns:a16="http://schemas.microsoft.com/office/drawing/2014/main" id="{DFDE76E6-0352-4245-8C07-1C7292ABEBA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014600" y="1293137"/>
                <a:ext cx="327910" cy="276999"/>
              </a:xfrm>
              <a:prstGeom prst="rect">
                <a:avLst/>
              </a:prstGeom>
              <a:blipFill>
                <a:blip r:embed="rId7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18" name="TextBox 17">
                <a:extLst>
                  <a:ext uri="{FF2B5EF4-FFF2-40B4-BE49-F238E27FC236}">
                    <a16:creationId xmlns:a16="http://schemas.microsoft.com/office/drawing/2014/main" id="{BAFA15CC-A094-4DC7-BC75-7150E52D2E30}"/>
                  </a:ext>
                </a:extLst>
              </p:cNvPr>
              <p:cNvSpPr txBox="1"/>
              <p:nvPr/>
            </p:nvSpPr>
            <p:spPr>
              <a:xfrm>
                <a:off x="5863701" y="1241682"/>
                <a:ext cx="476412" cy="276999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12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1200" b="0" i="1" smtClean="0">
                              <a:latin typeface="Cambria Math" panose="02040503050406030204" pitchFamily="18" charset="0"/>
                            </a:rPr>
                            <m:t>𝑡</m:t>
                          </m:r>
                        </m:e>
                        <m:sub>
                          <m:r>
                            <a:rPr lang="en-US" sz="1200" b="0" i="1" smtClean="0">
                              <a:latin typeface="Cambria Math" panose="02040503050406030204" pitchFamily="18" charset="0"/>
                            </a:rPr>
                            <m:t>𝑖</m:t>
                          </m:r>
                          <m:r>
                            <a:rPr lang="en-US" sz="1200" b="0" i="1" smtClean="0">
                              <a:latin typeface="Cambria Math" panose="02040503050406030204" pitchFamily="18" charset="0"/>
                            </a:rPr>
                            <m:t>−1</m:t>
                          </m:r>
                        </m:sub>
                      </m:sSub>
                    </m:oMath>
                  </m:oMathPara>
                </a14:m>
                <a:endParaRPr lang="en-US" sz="1200" dirty="0"/>
              </a:p>
            </p:txBody>
          </p:sp>
        </mc:Choice>
        <mc:Fallback>
          <p:sp>
            <p:nvSpPr>
              <p:cNvPr id="18" name="TextBox 17">
                <a:extLst>
                  <a:ext uri="{FF2B5EF4-FFF2-40B4-BE49-F238E27FC236}">
                    <a16:creationId xmlns:a16="http://schemas.microsoft.com/office/drawing/2014/main" id="{BAFA15CC-A094-4DC7-BC75-7150E52D2E3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863701" y="1241682"/>
                <a:ext cx="476412" cy="276999"/>
              </a:xfrm>
              <a:prstGeom prst="rect">
                <a:avLst/>
              </a:prstGeom>
              <a:blipFill>
                <a:blip r:embed="rId8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19" name="TextBox 18">
                <a:extLst>
                  <a:ext uri="{FF2B5EF4-FFF2-40B4-BE49-F238E27FC236}">
                    <a16:creationId xmlns:a16="http://schemas.microsoft.com/office/drawing/2014/main" id="{E61CB8C3-E497-461D-A366-F37001191A76}"/>
                  </a:ext>
                </a:extLst>
              </p:cNvPr>
              <p:cNvSpPr txBox="1"/>
              <p:nvPr/>
            </p:nvSpPr>
            <p:spPr>
              <a:xfrm>
                <a:off x="6298614" y="1251435"/>
                <a:ext cx="328936" cy="276999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12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1200" b="0" i="1" smtClean="0">
                              <a:latin typeface="Cambria Math" panose="02040503050406030204" pitchFamily="18" charset="0"/>
                            </a:rPr>
                            <m:t>𝑡</m:t>
                          </m:r>
                        </m:e>
                        <m:sub>
                          <m:r>
                            <a:rPr lang="en-US" sz="1200" b="0" i="1" smtClean="0">
                              <a:latin typeface="Cambria Math" panose="02040503050406030204" pitchFamily="18" charset="0"/>
                            </a:rPr>
                            <m:t>𝑖</m:t>
                          </m:r>
                        </m:sub>
                      </m:sSub>
                    </m:oMath>
                  </m:oMathPara>
                </a14:m>
                <a:endParaRPr lang="en-US" sz="1200" dirty="0"/>
              </a:p>
            </p:txBody>
          </p:sp>
        </mc:Choice>
        <mc:Fallback>
          <p:sp>
            <p:nvSpPr>
              <p:cNvPr id="19" name="TextBox 18">
                <a:extLst>
                  <a:ext uri="{FF2B5EF4-FFF2-40B4-BE49-F238E27FC236}">
                    <a16:creationId xmlns:a16="http://schemas.microsoft.com/office/drawing/2014/main" id="{E61CB8C3-E497-461D-A366-F37001191A7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298614" y="1251435"/>
                <a:ext cx="328936" cy="276999"/>
              </a:xfrm>
              <a:prstGeom prst="rect">
                <a:avLst/>
              </a:prstGeom>
              <a:blipFill>
                <a:blip r:embed="rId9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20" name="Straight Connector 19">
            <a:extLst>
              <a:ext uri="{FF2B5EF4-FFF2-40B4-BE49-F238E27FC236}">
                <a16:creationId xmlns:a16="http://schemas.microsoft.com/office/drawing/2014/main" id="{2621D51D-5C74-4DE7-8B10-965E85334C8F}"/>
              </a:ext>
            </a:extLst>
          </p:cNvPr>
          <p:cNvCxnSpPr>
            <a:cxnSpLocks/>
          </p:cNvCxnSpPr>
          <p:nvPr/>
        </p:nvCxnSpPr>
        <p:spPr>
          <a:xfrm>
            <a:off x="6000166" y="1280501"/>
            <a:ext cx="445662" cy="0"/>
          </a:xfrm>
          <a:prstGeom prst="line">
            <a:avLst/>
          </a:pr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  <p:pic>
        <p:nvPicPr>
          <p:cNvPr id="21" name="Picture 20">
            <a:extLst>
              <a:ext uri="{FF2B5EF4-FFF2-40B4-BE49-F238E27FC236}">
                <a16:creationId xmlns:a16="http://schemas.microsoft.com/office/drawing/2014/main" id="{D8BD5E08-5E19-4DD4-975F-3AEFD7639898}"/>
              </a:ext>
            </a:extLst>
          </p:cNvPr>
          <p:cNvPicPr>
            <a:picLocks noChangeAspect="1"/>
          </p:cNvPicPr>
          <p:nvPr/>
        </p:nvPicPr>
        <p:blipFill rotWithShape="1">
          <a:blip r:embed="rId10">
            <a:extLst>
              <a:ext uri="{BEBA8EAE-BF5A-486C-A8C5-ECC9F3942E4B}">
                <a14:imgProps xmlns:a14="http://schemas.microsoft.com/office/drawing/2010/main">
                  <a14:imgLayer r:embed="rId3">
                    <a14:imgEffect>
                      <a14:backgroundRemoval t="4865" b="96757" l="46220" r="93089">
                        <a14:foregroundMark x1="56587" y1="9730" x2="57019" y2="75135"/>
                        <a14:foregroundMark x1="57019" y1="75135" x2="48380" y2="89730"/>
                        <a14:foregroundMark x1="48380" y1="89730" x2="55724" y2="80541"/>
                        <a14:foregroundMark x1="55724" y1="80541" x2="64795" y2="78378"/>
                        <a14:foregroundMark x1="64795" y1="78378" x2="73002" y2="80000"/>
                        <a14:foregroundMark x1="73002" y1="80000" x2="90713" y2="76216"/>
                        <a14:foregroundMark x1="90713" y1="76216" x2="71274" y2="76757"/>
                        <a14:foregroundMark x1="71274" y1="76757" x2="88121" y2="78378"/>
                        <a14:foregroundMark x1="88121" y1="78378" x2="62203" y2="71351"/>
                        <a14:foregroundMark x1="62203" y1="71351" x2="72570" y2="48108"/>
                        <a14:foregroundMark x1="72570" y1="48108" x2="74730" y2="24865"/>
                        <a14:foregroundMark x1="74730" y1="24865" x2="62635" y2="27027"/>
                        <a14:foregroundMark x1="62635" y1="27027" x2="74082" y2="49730"/>
                        <a14:foregroundMark x1="74082" y1="49730" x2="85313" y2="42162"/>
                        <a14:foregroundMark x1="85313" y1="42162" x2="79266" y2="14054"/>
                        <a14:foregroundMark x1="79266" y1="14054" x2="87473" y2="20000"/>
                        <a14:foregroundMark x1="63931" y1="20000" x2="56587" y2="14054"/>
                        <a14:foregroundMark x1="56803" y1="9189" x2="59179" y2="10270"/>
                        <a14:foregroundMark x1="59611" y1="12432" x2="69114" y2="18378"/>
                        <a14:foregroundMark x1="66307" y1="23784" x2="69546" y2="40541"/>
                        <a14:foregroundMark x1="68898" y1="31351" x2="62419" y2="40000"/>
                        <a14:foregroundMark x1="62203" y1="36757" x2="73002" y2="37838"/>
                        <a14:foregroundMark x1="72570" y1="23243" x2="76026" y2="20541"/>
                        <a14:foregroundMark x1="68035" y1="15676" x2="71706" y2="16216"/>
                        <a14:foregroundMark x1="77538" y1="15676" x2="65443" y2="16757"/>
                        <a14:foregroundMark x1="74082" y1="15135" x2="84881" y2="18919"/>
                        <a14:foregroundMark x1="84881" y1="25405" x2="76458" y2="36757"/>
                        <a14:foregroundMark x1="70410" y1="37297" x2="71274" y2="37297"/>
                        <a14:foregroundMark x1="76458" y1="38378" x2="79698" y2="42162"/>
                        <a14:foregroundMark x1="81210" y1="41622" x2="79698" y2="42162"/>
                        <a14:foregroundMark x1="81857" y1="36216" x2="83369" y2="35676"/>
                        <a14:foregroundMark x1="82505" y1="37838" x2="81641" y2="39459"/>
                        <a14:foregroundMark x1="86393" y1="28649" x2="86393" y2="28649"/>
                        <a14:foregroundMark x1="88121" y1="27568" x2="88121" y2="32432"/>
                        <a14:foregroundMark x1="87689" y1="33514" x2="87473" y2="35676"/>
                        <a14:foregroundMark x1="88121" y1="33514" x2="90065" y2="40541"/>
                        <a14:foregroundMark x1="91793" y1="45946" x2="91577" y2="50811"/>
                        <a14:foregroundMark x1="90713" y1="53514" x2="90281" y2="54595"/>
                        <a14:foregroundMark x1="89417" y1="45946" x2="90713" y2="70270"/>
                        <a14:foregroundMark x1="90713" y1="75135" x2="90065" y2="78378"/>
                        <a14:foregroundMark x1="89849" y1="80000" x2="88985" y2="83784"/>
                        <a14:foregroundMark x1="87689" y1="84865" x2="85313" y2="85405"/>
                        <a14:foregroundMark x1="90065" y1="81081" x2="90929" y2="78378"/>
                        <a14:foregroundMark x1="91577" y1="74054" x2="91577" y2="74054"/>
                        <a14:foregroundMark x1="92657" y1="75135" x2="93089" y2="81081"/>
                        <a14:foregroundMark x1="92441" y1="81081" x2="91361" y2="83243"/>
                        <a14:foregroundMark x1="90929" y1="83243" x2="90929" y2="83243"/>
                        <a14:foregroundMark x1="90713" y1="82162" x2="88337" y2="83243"/>
                        <a14:foregroundMark x1="83153" y1="84324" x2="82721" y2="84865"/>
                        <a14:foregroundMark x1="82505" y1="82703" x2="82505" y2="82703"/>
                        <a14:foregroundMark x1="76242" y1="85946" x2="67171" y2="83784"/>
                        <a14:foregroundMark x1="57235" y1="86486" x2="54860" y2="87027"/>
                        <a14:foregroundMark x1="52052" y1="91892" x2="47948" y2="93514"/>
                        <a14:foregroundMark x1="47732" y1="87568" x2="47300" y2="96216"/>
                        <a14:foregroundMark x1="75810" y1="44865" x2="75378" y2="44324"/>
                        <a14:foregroundMark x1="47084" y1="90270" x2="47084" y2="87027"/>
                        <a14:foregroundMark x1="46436" y1="93514" x2="46436" y2="96757"/>
                        <a14:foregroundMark x1="56156" y1="18919" x2="53564" y2="9189"/>
                        <a14:foregroundMark x1="53132" y1="4865" x2="62419" y2="7027"/>
                        <a14:foregroundMark x1="66307" y1="8108" x2="75378" y2="10270"/>
                        <a14:backgroundMark x1="52700" y1="36216" x2="44708" y2="40000"/>
                        <a14:backgroundMark x1="44708" y1="40000" x2="54428" y2="37838"/>
                      </a14:backgroundRemoval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rcRect l="44141" r="4943"/>
          <a:stretch/>
        </p:blipFill>
        <p:spPr>
          <a:xfrm>
            <a:off x="192379" y="1880646"/>
            <a:ext cx="3165894" cy="2484451"/>
          </a:xfrm>
          <a:prstGeom prst="rect">
            <a:avLst/>
          </a:prstGeom>
        </p:spPr>
      </p:pic>
      <p:cxnSp>
        <p:nvCxnSpPr>
          <p:cNvPr id="6" name="Straight Arrow Connector 5">
            <a:extLst>
              <a:ext uri="{FF2B5EF4-FFF2-40B4-BE49-F238E27FC236}">
                <a16:creationId xmlns:a16="http://schemas.microsoft.com/office/drawing/2014/main" id="{4D10EA78-5868-4134-8B49-8359AF431244}"/>
              </a:ext>
            </a:extLst>
          </p:cNvPr>
          <p:cNvCxnSpPr/>
          <p:nvPr/>
        </p:nvCxnSpPr>
        <p:spPr>
          <a:xfrm flipV="1">
            <a:off x="2518913" y="1293137"/>
            <a:ext cx="3481253" cy="1260282"/>
          </a:xfrm>
          <a:prstGeom prst="straightConnector1">
            <a:avLst/>
          </a:prstGeom>
          <a:ln w="28575">
            <a:tailEnd type="triangle"/>
          </a:ln>
        </p:spPr>
        <p:style>
          <a:lnRef idx="1">
            <a:schemeClr val="accent2"/>
          </a:lnRef>
          <a:fillRef idx="0">
            <a:schemeClr val="accent2"/>
          </a:fillRef>
          <a:effectRef idx="0">
            <a:schemeClr val="accent2"/>
          </a:effectRef>
          <a:fontRef idx="minor">
            <a:schemeClr val="tx1"/>
          </a:fontRef>
        </p:style>
      </p:cxnSp>
      <p:cxnSp>
        <p:nvCxnSpPr>
          <p:cNvPr id="23" name="Straight Arrow Connector 22">
            <a:extLst>
              <a:ext uri="{FF2B5EF4-FFF2-40B4-BE49-F238E27FC236}">
                <a16:creationId xmlns:a16="http://schemas.microsoft.com/office/drawing/2014/main" id="{03FB5FE4-EF73-4F33-A5C7-576E4C2219C2}"/>
              </a:ext>
            </a:extLst>
          </p:cNvPr>
          <p:cNvCxnSpPr>
            <a:stCxn id="19" idx="0"/>
          </p:cNvCxnSpPr>
          <p:nvPr/>
        </p:nvCxnSpPr>
        <p:spPr>
          <a:xfrm>
            <a:off x="6463082" y="1251435"/>
            <a:ext cx="58488" cy="3018640"/>
          </a:xfrm>
          <a:prstGeom prst="straightConnector1">
            <a:avLst/>
          </a:prstGeom>
          <a:ln w="28575">
            <a:tailEnd type="triangle"/>
          </a:ln>
        </p:spPr>
        <p:style>
          <a:lnRef idx="1">
            <a:schemeClr val="accent2"/>
          </a:lnRef>
          <a:fillRef idx="0">
            <a:schemeClr val="accent2"/>
          </a:fillRef>
          <a:effectRef idx="0">
            <a:schemeClr val="accent2"/>
          </a:effectRef>
          <a:fontRef idx="minor">
            <a:schemeClr val="tx1"/>
          </a:fontRef>
        </p:style>
      </p:cxnSp>
      <p:cxnSp>
        <p:nvCxnSpPr>
          <p:cNvPr id="40" name="Straight Arrow Connector 39">
            <a:extLst>
              <a:ext uri="{FF2B5EF4-FFF2-40B4-BE49-F238E27FC236}">
                <a16:creationId xmlns:a16="http://schemas.microsoft.com/office/drawing/2014/main" id="{CF6366AD-529E-4666-8BCE-B522C6C9FC63}"/>
              </a:ext>
            </a:extLst>
          </p:cNvPr>
          <p:cNvCxnSpPr/>
          <p:nvPr/>
        </p:nvCxnSpPr>
        <p:spPr>
          <a:xfrm flipH="1" flipV="1">
            <a:off x="6298614" y="4865298"/>
            <a:ext cx="41499" cy="353683"/>
          </a:xfrm>
          <a:prstGeom prst="straightConnector1">
            <a:avLst/>
          </a:prstGeom>
          <a:ln w="28575">
            <a:tailEnd type="triangle"/>
          </a:ln>
        </p:spPr>
        <p:style>
          <a:lnRef idx="1">
            <a:schemeClr val="accent2"/>
          </a:lnRef>
          <a:fillRef idx="0">
            <a:schemeClr val="accent2"/>
          </a:fillRef>
          <a:effectRef idx="0">
            <a:schemeClr val="accent2"/>
          </a:effectRef>
          <a:fontRef idx="minor">
            <a:schemeClr val="tx1"/>
          </a:fontRef>
        </p:style>
      </p:cxnSp>
      <p:cxnSp>
        <p:nvCxnSpPr>
          <p:cNvPr id="44" name="Straight Arrow Connector 43">
            <a:extLst>
              <a:ext uri="{FF2B5EF4-FFF2-40B4-BE49-F238E27FC236}">
                <a16:creationId xmlns:a16="http://schemas.microsoft.com/office/drawing/2014/main" id="{07CA4378-2D7E-40B8-B56F-BA6C2D256ABE}"/>
              </a:ext>
            </a:extLst>
          </p:cNvPr>
          <p:cNvCxnSpPr/>
          <p:nvPr/>
        </p:nvCxnSpPr>
        <p:spPr>
          <a:xfrm flipH="1" flipV="1">
            <a:off x="2182483" y="2812211"/>
            <a:ext cx="4011283" cy="1846053"/>
          </a:xfrm>
          <a:prstGeom prst="straightConnector1">
            <a:avLst/>
          </a:prstGeom>
          <a:ln w="28575">
            <a:tailEnd type="triangle"/>
          </a:ln>
        </p:spPr>
        <p:style>
          <a:lnRef idx="1">
            <a:schemeClr val="accent2"/>
          </a:lnRef>
          <a:fillRef idx="0">
            <a:schemeClr val="accent2"/>
          </a:fillRef>
          <a:effectRef idx="0">
            <a:schemeClr val="accent2"/>
          </a:effectRef>
          <a:fontRef idx="minor">
            <a:schemeClr val="tx1"/>
          </a:fontRef>
        </p:style>
      </p:cxnSp>
      <p:sp>
        <p:nvSpPr>
          <p:cNvPr id="45" name="TextBox 44">
            <a:extLst>
              <a:ext uri="{FF2B5EF4-FFF2-40B4-BE49-F238E27FC236}">
                <a16:creationId xmlns:a16="http://schemas.microsoft.com/office/drawing/2014/main" id="{CBFE31DE-ACB1-47EA-B972-9D34BB56E270}"/>
              </a:ext>
            </a:extLst>
          </p:cNvPr>
          <p:cNvSpPr txBox="1"/>
          <p:nvPr/>
        </p:nvSpPr>
        <p:spPr>
          <a:xfrm>
            <a:off x="3147550" y="1580411"/>
            <a:ext cx="1347278" cy="73866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400" dirty="0">
                <a:latin typeface="Times New Roman" panose="02020603050405020304" pitchFamily="18" charset="0"/>
                <a:ea typeface="SimSun" panose="02010600030101010101" pitchFamily="2" charset="-122"/>
                <a:cs typeface="Times New Roman" panose="02020603050405020304" pitchFamily="18" charset="0"/>
              </a:rPr>
              <a:t>(1) </a:t>
            </a:r>
            <a:r>
              <a:rPr lang="zh-CN" altLang="en-US" sz="1400" dirty="0">
                <a:latin typeface="SimSun" panose="02010600030101010101" pitchFamily="2" charset="-122"/>
                <a:ea typeface="SimSun" panose="02010600030101010101" pitchFamily="2" charset="-122"/>
              </a:rPr>
              <a:t>空间曲线参数曲线方程表示</a:t>
            </a:r>
            <a:endParaRPr lang="en-US" sz="1400" dirty="0">
              <a:latin typeface="SimSun" panose="02010600030101010101" pitchFamily="2" charset="-122"/>
              <a:ea typeface="SimSun" panose="02010600030101010101" pitchFamily="2" charset="-122"/>
            </a:endParaRPr>
          </a:p>
        </p:txBody>
      </p:sp>
      <p:sp>
        <p:nvSpPr>
          <p:cNvPr id="46" name="TextBox 45">
            <a:extLst>
              <a:ext uri="{FF2B5EF4-FFF2-40B4-BE49-F238E27FC236}">
                <a16:creationId xmlns:a16="http://schemas.microsoft.com/office/drawing/2014/main" id="{9F335F5C-A9E6-4857-AB08-5FC0AE790E67}"/>
              </a:ext>
            </a:extLst>
          </p:cNvPr>
          <p:cNvSpPr txBox="1"/>
          <p:nvPr/>
        </p:nvSpPr>
        <p:spPr>
          <a:xfrm>
            <a:off x="6556543" y="2357504"/>
            <a:ext cx="1347278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400" dirty="0">
                <a:latin typeface="Times New Roman" panose="02020603050405020304" pitchFamily="18" charset="0"/>
                <a:ea typeface="SimSun" panose="02010600030101010101" pitchFamily="2" charset="-122"/>
                <a:cs typeface="Times New Roman" panose="02020603050405020304" pitchFamily="18" charset="0"/>
              </a:rPr>
              <a:t>(2)</a:t>
            </a:r>
            <a:r>
              <a:rPr lang="zh-CN" altLang="en-US" sz="1400" dirty="0">
                <a:latin typeface="SimSun" panose="02010600030101010101" pitchFamily="2" charset="-122"/>
                <a:ea typeface="SimSun" panose="02010600030101010101" pitchFamily="2" charset="-122"/>
              </a:rPr>
              <a:t>参数曲线转到平面曲线</a:t>
            </a:r>
            <a:endParaRPr lang="en-US" sz="1400" dirty="0">
              <a:latin typeface="SimSun" panose="02010600030101010101" pitchFamily="2" charset="-122"/>
              <a:ea typeface="SimSun" panose="02010600030101010101" pitchFamily="2" charset="-122"/>
            </a:endParaRPr>
          </a:p>
        </p:txBody>
      </p:sp>
      <p:sp>
        <p:nvSpPr>
          <p:cNvPr id="47" name="TextBox 46">
            <a:extLst>
              <a:ext uri="{FF2B5EF4-FFF2-40B4-BE49-F238E27FC236}">
                <a16:creationId xmlns:a16="http://schemas.microsoft.com/office/drawing/2014/main" id="{429BE1DF-155A-4D8A-A5BB-5FDAF804BB6F}"/>
              </a:ext>
            </a:extLst>
          </p:cNvPr>
          <p:cNvSpPr txBox="1"/>
          <p:nvPr/>
        </p:nvSpPr>
        <p:spPr>
          <a:xfrm>
            <a:off x="6627550" y="4957371"/>
            <a:ext cx="1347278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400" dirty="0">
                <a:latin typeface="Times New Roman" panose="02020603050405020304" pitchFamily="18" charset="0"/>
                <a:ea typeface="SimSun" panose="02010600030101010101" pitchFamily="2" charset="-122"/>
                <a:cs typeface="Times New Roman" panose="02020603050405020304" pitchFamily="18" charset="0"/>
              </a:rPr>
              <a:t>(3) </a:t>
            </a:r>
            <a:r>
              <a:rPr lang="zh-CN" altLang="en-US" sz="1400" dirty="0">
                <a:latin typeface="SimSun" panose="02010600030101010101" pitchFamily="2" charset="-122"/>
                <a:ea typeface="SimSun" panose="02010600030101010101" pitchFamily="2" charset="-122"/>
                <a:cs typeface="Times New Roman" panose="02020603050405020304" pitchFamily="18" charset="0"/>
              </a:rPr>
              <a:t>平面的边界转到平面区域</a:t>
            </a:r>
            <a:endParaRPr lang="en-US" sz="1400" dirty="0">
              <a:latin typeface="SimSun" panose="02010600030101010101" pitchFamily="2" charset="-122"/>
              <a:ea typeface="SimSun" panose="02010600030101010101" pitchFamily="2" charset="-122"/>
            </a:endParaRPr>
          </a:p>
        </p:txBody>
      </p:sp>
      <p:sp>
        <p:nvSpPr>
          <p:cNvPr id="48" name="TextBox 47">
            <a:extLst>
              <a:ext uri="{FF2B5EF4-FFF2-40B4-BE49-F238E27FC236}">
                <a16:creationId xmlns:a16="http://schemas.microsoft.com/office/drawing/2014/main" id="{B2D65A56-D7AC-4FC5-87D8-624775233E08}"/>
              </a:ext>
            </a:extLst>
          </p:cNvPr>
          <p:cNvSpPr txBox="1"/>
          <p:nvPr/>
        </p:nvSpPr>
        <p:spPr>
          <a:xfrm>
            <a:off x="3387896" y="3846949"/>
            <a:ext cx="1347278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400" dirty="0">
                <a:latin typeface="Times New Roman" panose="02020603050405020304" pitchFamily="18" charset="0"/>
                <a:ea typeface="SimSun" panose="02010600030101010101" pitchFamily="2" charset="-122"/>
                <a:cs typeface="Times New Roman" panose="02020603050405020304" pitchFamily="18" charset="0"/>
              </a:rPr>
              <a:t>(4) </a:t>
            </a:r>
            <a:r>
              <a:rPr lang="zh-CN" altLang="en-US" sz="1400" dirty="0">
                <a:latin typeface="Times New Roman" panose="02020603050405020304" pitchFamily="18" charset="0"/>
                <a:ea typeface="SimSun" panose="02010600030101010101" pitchFamily="2" charset="-122"/>
                <a:cs typeface="Times New Roman" panose="02020603050405020304" pitchFamily="18" charset="0"/>
              </a:rPr>
              <a:t>参数</a:t>
            </a:r>
            <a:r>
              <a:rPr lang="zh-CN" altLang="en-US" sz="1400" dirty="0">
                <a:latin typeface="SimSun" panose="02010600030101010101" pitchFamily="2" charset="-122"/>
                <a:ea typeface="SimSun" panose="02010600030101010101" pitchFamily="2" charset="-122"/>
                <a:cs typeface="Times New Roman" panose="02020603050405020304" pitchFamily="18" charset="0"/>
              </a:rPr>
              <a:t>平面转到空间曲面</a:t>
            </a:r>
            <a:endParaRPr lang="en-US" sz="1400" dirty="0">
              <a:latin typeface="SimSun" panose="02010600030101010101" pitchFamily="2" charset="-122"/>
              <a:ea typeface="SimSun" panose="02010600030101010101" pitchFamily="2" charset="-122"/>
            </a:endParaRPr>
          </a:p>
        </p:txBody>
      </p:sp>
    </p:spTree>
    <p:extLst>
      <p:ext uri="{BB962C8B-B14F-4D97-AF65-F5344CB8AC3E}">
        <p14:creationId xmlns:p14="http://schemas.microsoft.com/office/powerpoint/2010/main" val="2407457433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137</TotalTime>
  <Words>99</Words>
  <Application>Microsoft Office PowerPoint</Application>
  <PresentationFormat>Widescreen</PresentationFormat>
  <Paragraphs>49</Paragraphs>
  <Slides>5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6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5</vt:i4>
      </vt:variant>
    </vt:vector>
  </HeadingPairs>
  <TitlesOfParts>
    <vt:vector size="12" baseType="lpstr">
      <vt:lpstr>SimSun</vt:lpstr>
      <vt:lpstr>Arial</vt:lpstr>
      <vt:lpstr>Calibri</vt:lpstr>
      <vt:lpstr>Calibri Light</vt:lpstr>
      <vt:lpstr>Cambria Math</vt:lpstr>
      <vt:lpstr>Times New Roman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creator>Jinpeng Ma</dc:creator>
  <cp:lastModifiedBy>Jinpeng Ma</cp:lastModifiedBy>
  <cp:revision>9</cp:revision>
  <dcterms:created xsi:type="dcterms:W3CDTF">2025-05-18T07:48:05Z</dcterms:created>
  <dcterms:modified xsi:type="dcterms:W3CDTF">2025-05-24T08:46:02Z</dcterms:modified>
</cp:coreProperties>
</file>